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4" r:id="rId8"/>
    <p:sldId id="265" r:id="rId9"/>
    <p:sldId id="266" r:id="rId10"/>
    <p:sldId id="267" r:id="rId11"/>
  </p:sldIdLst>
  <p:sldSz cx="18288000" cy="10287000"/>
  <p:notesSz cx="6858000" cy="9144000"/>
  <p:embeddedFontLst>
    <p:embeddedFont>
      <p:font typeface="Agrandir" panose="020B0604020202020204" charset="0"/>
      <p:regular r:id="rId12"/>
    </p:embeddedFont>
    <p:embeddedFont>
      <p:font typeface="Agrandir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 b="-555"/>
            </a:stretch>
          </a:blipFill>
        </p:spPr>
        <p:txBody>
          <a:bodyPr/>
          <a:lstStyle/>
          <a:p>
            <a:endParaRPr lang="en-US"/>
          </a:p>
        </p:txBody>
      </p:sp>
      <p:grpSp>
        <p:nvGrpSpPr>
          <p:cNvPr id="3" name="Group 3"/>
          <p:cNvGrpSpPr/>
          <p:nvPr/>
        </p:nvGrpSpPr>
        <p:grpSpPr>
          <a:xfrm>
            <a:off x="17748771" y="7766730"/>
            <a:ext cx="1078458" cy="1106495"/>
            <a:chOff x="0" y="0"/>
            <a:chExt cx="284038" cy="291422"/>
          </a:xfrm>
        </p:grpSpPr>
        <p:sp>
          <p:nvSpPr>
            <p:cNvPr id="4" name="Freeform 4"/>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5" name="TextBox 5"/>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6" name="Group 6"/>
          <p:cNvGrpSpPr/>
          <p:nvPr/>
        </p:nvGrpSpPr>
        <p:grpSpPr>
          <a:xfrm>
            <a:off x="17748771" y="6686208"/>
            <a:ext cx="1078458" cy="1106495"/>
            <a:chOff x="0" y="0"/>
            <a:chExt cx="284038" cy="291422"/>
          </a:xfrm>
        </p:grpSpPr>
        <p:sp>
          <p:nvSpPr>
            <p:cNvPr id="7" name="Freeform 7"/>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8" name="TextBox 8"/>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0" name="TextBox 10"/>
          <p:cNvSpPr txBox="1"/>
          <p:nvPr/>
        </p:nvSpPr>
        <p:spPr>
          <a:xfrm>
            <a:off x="2568281" y="4964807"/>
            <a:ext cx="7395078" cy="2115185"/>
          </a:xfrm>
          <a:prstGeom prst="rect">
            <a:avLst/>
          </a:prstGeom>
        </p:spPr>
        <p:txBody>
          <a:bodyPr lIns="0" tIns="0" rIns="0" bIns="0" rtlCol="0" anchor="t">
            <a:spAutoFit/>
          </a:bodyPr>
          <a:lstStyle/>
          <a:p>
            <a:pPr marL="0" lvl="0" indent="0" algn="l">
              <a:lnSpc>
                <a:spcPts val="7840"/>
              </a:lnSpc>
            </a:pPr>
            <a:r>
              <a:rPr lang="en-US" sz="5600">
                <a:solidFill>
                  <a:srgbClr val="122620"/>
                </a:solidFill>
                <a:latin typeface="Agrandir"/>
                <a:ea typeface="Agrandir"/>
                <a:cs typeface="Agrandir"/>
                <a:sym typeface="Agrandir"/>
              </a:rPr>
              <a:t>Alamia Print ERP System</a:t>
            </a:r>
          </a:p>
        </p:txBody>
      </p:sp>
      <p:sp>
        <p:nvSpPr>
          <p:cNvPr id="12" name="TextBox 12"/>
          <p:cNvSpPr txBox="1"/>
          <p:nvPr/>
        </p:nvSpPr>
        <p:spPr>
          <a:xfrm>
            <a:off x="13217977" y="2063974"/>
            <a:ext cx="3686138" cy="651552"/>
          </a:xfrm>
          <a:prstGeom prst="rect">
            <a:avLst/>
          </a:prstGeom>
        </p:spPr>
        <p:txBody>
          <a:bodyPr lIns="0" tIns="0" rIns="0" bIns="0" rtlCol="0" anchor="t">
            <a:spAutoFit/>
          </a:bodyPr>
          <a:lstStyle/>
          <a:p>
            <a:pPr marL="0" lvl="0" indent="0" algn="l">
              <a:lnSpc>
                <a:spcPts val="2412"/>
              </a:lnSpc>
            </a:pPr>
            <a:r>
              <a:rPr lang="en-US" sz="1723">
                <a:solidFill>
                  <a:srgbClr val="122620"/>
                </a:solidFill>
                <a:latin typeface="Agrandir"/>
                <a:ea typeface="Agrandir"/>
                <a:cs typeface="Agrandir"/>
                <a:sym typeface="Agrandir"/>
              </a:rPr>
              <a:t>Faculty of Computer Science &amp; Engineering</a:t>
            </a:r>
          </a:p>
        </p:txBody>
      </p:sp>
      <p:sp>
        <p:nvSpPr>
          <p:cNvPr id="14" name="TextBox 14"/>
          <p:cNvSpPr txBox="1"/>
          <p:nvPr/>
        </p:nvSpPr>
        <p:spPr>
          <a:xfrm>
            <a:off x="5047472" y="2058549"/>
            <a:ext cx="3676614" cy="327269"/>
          </a:xfrm>
          <a:prstGeom prst="rect">
            <a:avLst/>
          </a:prstGeom>
        </p:spPr>
        <p:txBody>
          <a:bodyPr wrap="square" lIns="0" tIns="0" rIns="0" bIns="0" rtlCol="0" anchor="t">
            <a:spAutoFit/>
          </a:bodyPr>
          <a:lstStyle/>
          <a:p>
            <a:pPr marL="0" lvl="0" indent="0" algn="l">
              <a:lnSpc>
                <a:spcPts val="2412"/>
              </a:lnSpc>
              <a:spcBef>
                <a:spcPct val="0"/>
              </a:spcBef>
            </a:pPr>
            <a:r>
              <a:rPr lang="en-US" sz="2800" dirty="0">
                <a:solidFill>
                  <a:srgbClr val="122620"/>
                </a:solidFill>
                <a:latin typeface="Agrandir"/>
                <a:ea typeface="Agrandir"/>
                <a:cs typeface="Agrandir"/>
                <a:sym typeface="Agrandir"/>
              </a:rPr>
              <a:t>Alamia Print ERP</a:t>
            </a:r>
          </a:p>
        </p:txBody>
      </p:sp>
      <p:sp>
        <p:nvSpPr>
          <p:cNvPr id="16" name="AutoShape 16"/>
          <p:cNvSpPr/>
          <p:nvPr/>
        </p:nvSpPr>
        <p:spPr>
          <a:xfrm>
            <a:off x="12435585" y="2043140"/>
            <a:ext cx="4762" cy="448701"/>
          </a:xfrm>
          <a:prstGeom prst="line">
            <a:avLst/>
          </a:prstGeom>
          <a:ln w="9525" cap="flat">
            <a:solidFill>
              <a:srgbClr val="000000"/>
            </a:solidFill>
            <a:prstDash val="solid"/>
            <a:headEnd type="none" w="sm" len="sm"/>
            <a:tailEnd type="none" w="sm" len="sm"/>
          </a:ln>
        </p:spPr>
        <p:txBody>
          <a:bodyPr/>
          <a:lstStyle/>
          <a:p>
            <a:endParaRPr lang="en-US"/>
          </a:p>
        </p:txBody>
      </p:sp>
      <p:pic>
        <p:nvPicPr>
          <p:cNvPr id="20" name="Picture 19">
            <a:extLst>
              <a:ext uri="{FF2B5EF4-FFF2-40B4-BE49-F238E27FC236}">
                <a16:creationId xmlns:a16="http://schemas.microsoft.com/office/drawing/2014/main" id="{5838406E-828F-AE75-BF50-40148BC987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8778" y="1392010"/>
            <a:ext cx="1267535" cy="1267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4" name="Freeform 4"/>
          <p:cNvSpPr/>
          <p:nvPr/>
        </p:nvSpPr>
        <p:spPr>
          <a:xfrm>
            <a:off x="5788691" y="2014091"/>
            <a:ext cx="7120859" cy="2116667"/>
          </a:xfrm>
          <a:custGeom>
            <a:avLst/>
            <a:gdLst/>
            <a:ahLst/>
            <a:cxnLst/>
            <a:rect l="l" t="t" r="r" b="b"/>
            <a:pathLst>
              <a:path w="7120859" h="2116667">
                <a:moveTo>
                  <a:pt x="0" y="0"/>
                </a:moveTo>
                <a:lnTo>
                  <a:pt x="7120859" y="0"/>
                </a:lnTo>
                <a:lnTo>
                  <a:pt x="7120859" y="2116666"/>
                </a:lnTo>
                <a:lnTo>
                  <a:pt x="0" y="2116666"/>
                </a:lnTo>
                <a:lnTo>
                  <a:pt x="0" y="0"/>
                </a:lnTo>
                <a:close/>
              </a:path>
            </a:pathLst>
          </a:custGeom>
          <a:blipFill>
            <a:blip r:embed="rId2"/>
            <a:stretch>
              <a:fillRect l="-168" r="-168"/>
            </a:stretch>
          </a:blipFill>
        </p:spPr>
        <p:txBody>
          <a:bodyPr/>
          <a:lstStyle/>
          <a:p>
            <a:endParaRPr lang="en-US"/>
          </a:p>
        </p:txBody>
      </p:sp>
      <p:grpSp>
        <p:nvGrpSpPr>
          <p:cNvPr id="6" name="Group 6"/>
          <p:cNvGrpSpPr/>
          <p:nvPr/>
        </p:nvGrpSpPr>
        <p:grpSpPr>
          <a:xfrm>
            <a:off x="17656465" y="7749231"/>
            <a:ext cx="1078458" cy="1106495"/>
            <a:chOff x="0" y="0"/>
            <a:chExt cx="284038" cy="291422"/>
          </a:xfrm>
        </p:grpSpPr>
        <p:sp>
          <p:nvSpPr>
            <p:cNvPr id="7" name="Freeform 7"/>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8" name="TextBox 8"/>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9" name="Group 9"/>
          <p:cNvGrpSpPr/>
          <p:nvPr/>
        </p:nvGrpSpPr>
        <p:grpSpPr>
          <a:xfrm>
            <a:off x="17656465" y="6668709"/>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2" name="AutoShape 12"/>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4" name="TextBox 14"/>
          <p:cNvSpPr txBox="1"/>
          <p:nvPr/>
        </p:nvSpPr>
        <p:spPr>
          <a:xfrm>
            <a:off x="2818361" y="5379720"/>
            <a:ext cx="5335039" cy="2154436"/>
          </a:xfrm>
          <a:prstGeom prst="rect">
            <a:avLst/>
          </a:prstGeom>
        </p:spPr>
        <p:txBody>
          <a:bodyPr wrap="square" lIns="0" tIns="0" rIns="0" bIns="0" rtlCol="0" anchor="t">
            <a:spAutoFit/>
          </a:bodyPr>
          <a:lstStyle/>
          <a:p>
            <a:pPr marL="0" lvl="0" indent="0" algn="l"/>
            <a:r>
              <a:rPr lang="en-US" sz="2800" dirty="0">
                <a:solidFill>
                  <a:srgbClr val="122620"/>
                </a:solidFill>
                <a:latin typeface="Agrandir"/>
                <a:ea typeface="Agrandir"/>
                <a:cs typeface="Agrandir"/>
                <a:sym typeface="Agrandir"/>
              </a:rPr>
              <a:t>Manual inventory errors · Complex material tracking · Inefficient production planning · High paper waste · No centralized data control</a:t>
            </a:r>
          </a:p>
        </p:txBody>
      </p:sp>
      <p:sp>
        <p:nvSpPr>
          <p:cNvPr id="15" name="TextBox 15"/>
          <p:cNvSpPr txBox="1"/>
          <p:nvPr/>
        </p:nvSpPr>
        <p:spPr>
          <a:xfrm>
            <a:off x="2818361" y="4851083"/>
            <a:ext cx="6630439" cy="430502"/>
          </a:xfrm>
          <a:prstGeom prst="rect">
            <a:avLst/>
          </a:prstGeom>
        </p:spPr>
        <p:txBody>
          <a:bodyPr wrap="square" lIns="0" tIns="0" rIns="0" bIns="0" rtlCol="0" anchor="t">
            <a:spAutoFit/>
          </a:bodyPr>
          <a:lstStyle/>
          <a:p>
            <a:pPr marL="0" lvl="0" indent="0" algn="l">
              <a:lnSpc>
                <a:spcPts val="2937"/>
              </a:lnSpc>
            </a:pPr>
            <a:r>
              <a:rPr lang="en-US" sz="4400" b="1" dirty="0">
                <a:solidFill>
                  <a:srgbClr val="122620"/>
                </a:solidFill>
                <a:latin typeface="Agrandir Bold"/>
                <a:ea typeface="Agrandir Bold"/>
                <a:cs typeface="Agrandir Bold"/>
                <a:sym typeface="Agrandir Bold"/>
              </a:rPr>
              <a:t>Business Problems</a:t>
            </a:r>
          </a:p>
        </p:txBody>
      </p:sp>
      <p:sp>
        <p:nvSpPr>
          <p:cNvPr id="16" name="TextBox 16"/>
          <p:cNvSpPr txBox="1"/>
          <p:nvPr/>
        </p:nvSpPr>
        <p:spPr>
          <a:xfrm>
            <a:off x="11619407" y="5548097"/>
            <a:ext cx="5597031" cy="2154436"/>
          </a:xfrm>
          <a:prstGeom prst="rect">
            <a:avLst/>
          </a:prstGeom>
        </p:spPr>
        <p:txBody>
          <a:bodyPr wrap="square" lIns="0" tIns="0" rIns="0" bIns="0" rtlCol="0" anchor="t">
            <a:spAutoFit/>
          </a:bodyPr>
          <a:lstStyle/>
          <a:p>
            <a:pPr marL="0" lvl="0" indent="0" algn="l"/>
            <a:r>
              <a:rPr lang="en-US" sz="2800" dirty="0">
                <a:solidFill>
                  <a:srgbClr val="122620"/>
                </a:solidFill>
                <a:latin typeface="Agrandir"/>
                <a:ea typeface="Agrandir"/>
                <a:cs typeface="Agrandir"/>
                <a:sym typeface="Agrandir"/>
              </a:rPr>
              <a:t>Centralized ERP integrating all functions · Automated order &amp; inventory management · Layout optimization algorithm · Role-based authentication</a:t>
            </a:r>
          </a:p>
        </p:txBody>
      </p:sp>
      <p:sp>
        <p:nvSpPr>
          <p:cNvPr id="17" name="TextBox 17"/>
          <p:cNvSpPr txBox="1"/>
          <p:nvPr/>
        </p:nvSpPr>
        <p:spPr>
          <a:xfrm>
            <a:off x="11619407" y="4946117"/>
            <a:ext cx="5597031" cy="430502"/>
          </a:xfrm>
          <a:prstGeom prst="rect">
            <a:avLst/>
          </a:prstGeom>
        </p:spPr>
        <p:txBody>
          <a:bodyPr wrap="square" lIns="0" tIns="0" rIns="0" bIns="0" rtlCol="0" anchor="t">
            <a:spAutoFit/>
          </a:bodyPr>
          <a:lstStyle/>
          <a:p>
            <a:pPr marL="0" lvl="0" indent="0" algn="l">
              <a:lnSpc>
                <a:spcPts val="2937"/>
              </a:lnSpc>
            </a:pPr>
            <a:r>
              <a:rPr lang="en-US" sz="4400" b="1" dirty="0">
                <a:solidFill>
                  <a:srgbClr val="122620"/>
                </a:solidFill>
                <a:latin typeface="Agrandir Bold"/>
                <a:ea typeface="Agrandir Bold"/>
                <a:cs typeface="Agrandir Bold"/>
                <a:sym typeface="Agrandir Bold"/>
              </a:rPr>
              <a:t>Proposed Solution</a:t>
            </a:r>
          </a:p>
        </p:txBody>
      </p:sp>
      <p:sp>
        <p:nvSpPr>
          <p:cNvPr id="18" name="TextBox 18"/>
          <p:cNvSpPr txBox="1"/>
          <p:nvPr/>
        </p:nvSpPr>
        <p:spPr>
          <a:xfrm>
            <a:off x="90678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Home</a:t>
            </a:r>
          </a:p>
        </p:txBody>
      </p:sp>
      <p:sp>
        <p:nvSpPr>
          <p:cNvPr id="19" name="TextBox 19"/>
          <p:cNvSpPr txBox="1"/>
          <p:nvPr/>
        </p:nvSpPr>
        <p:spPr>
          <a:xfrm>
            <a:off x="121412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About</a:t>
            </a:r>
          </a:p>
        </p:txBody>
      </p:sp>
      <p:sp>
        <p:nvSpPr>
          <p:cNvPr id="20" name="TextBox 20"/>
          <p:cNvSpPr txBox="1"/>
          <p:nvPr/>
        </p:nvSpPr>
        <p:spPr>
          <a:xfrm>
            <a:off x="152146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Product</a:t>
            </a:r>
          </a:p>
        </p:txBody>
      </p:sp>
      <p:sp>
        <p:nvSpPr>
          <p:cNvPr id="21" name="TextBox 21"/>
          <p:cNvSpPr txBox="1"/>
          <p:nvPr/>
        </p:nvSpPr>
        <p:spPr>
          <a:xfrm>
            <a:off x="15367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02</a:t>
            </a:r>
          </a:p>
        </p:txBody>
      </p:sp>
      <p:sp>
        <p:nvSpPr>
          <p:cNvPr id="22" name="TextBox 22"/>
          <p:cNvSpPr txBox="1"/>
          <p:nvPr/>
        </p:nvSpPr>
        <p:spPr>
          <a:xfrm>
            <a:off x="1494025" y="4765040"/>
            <a:ext cx="1104054" cy="641201"/>
          </a:xfrm>
          <a:prstGeom prst="rect">
            <a:avLst/>
          </a:prstGeom>
        </p:spPr>
        <p:txBody>
          <a:bodyPr lIns="0" tIns="0" rIns="0" bIns="0" rtlCol="0" anchor="t">
            <a:spAutoFit/>
          </a:bodyPr>
          <a:lstStyle/>
          <a:p>
            <a:pPr marL="0" lvl="0" indent="0" algn="l">
              <a:lnSpc>
                <a:spcPts val="5036"/>
              </a:lnSpc>
            </a:pPr>
            <a:r>
              <a:rPr lang="en-US" sz="4600" dirty="0">
                <a:solidFill>
                  <a:srgbClr val="122620"/>
                </a:solidFill>
                <a:latin typeface="Agrandir"/>
                <a:ea typeface="Agrandir"/>
                <a:cs typeface="Agrandir"/>
                <a:sym typeface="Agrandir"/>
              </a:rPr>
              <a:t>01</a:t>
            </a:r>
          </a:p>
        </p:txBody>
      </p:sp>
      <p:sp>
        <p:nvSpPr>
          <p:cNvPr id="23" name="TextBox 23"/>
          <p:cNvSpPr txBox="1"/>
          <p:nvPr/>
        </p:nvSpPr>
        <p:spPr>
          <a:xfrm>
            <a:off x="10295070" y="4860075"/>
            <a:ext cx="1500959" cy="646267"/>
          </a:xfrm>
          <a:prstGeom prst="rect">
            <a:avLst/>
          </a:prstGeom>
        </p:spPr>
        <p:txBody>
          <a:bodyPr wrap="square" lIns="0" tIns="0" rIns="0" bIns="0" rtlCol="0" anchor="t">
            <a:spAutoFit/>
          </a:bodyPr>
          <a:lstStyle/>
          <a:p>
            <a:pPr marL="0" lvl="0" indent="0" algn="l">
              <a:lnSpc>
                <a:spcPts val="5036"/>
              </a:lnSpc>
            </a:pPr>
            <a:r>
              <a:rPr lang="en-US" sz="4800" dirty="0">
                <a:solidFill>
                  <a:srgbClr val="122620"/>
                </a:solidFill>
                <a:latin typeface="Agrandir"/>
                <a:ea typeface="Agrandir"/>
                <a:cs typeface="Agrandir"/>
                <a:sym typeface="Agrandir"/>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63385" y="3929348"/>
            <a:ext cx="8127781" cy="2428304"/>
          </a:xfrm>
          <a:custGeom>
            <a:avLst/>
            <a:gdLst/>
            <a:ahLst/>
            <a:cxnLst/>
            <a:rect l="l" t="t" r="r" b="b"/>
            <a:pathLst>
              <a:path w="8127781" h="2428304">
                <a:moveTo>
                  <a:pt x="0" y="0"/>
                </a:moveTo>
                <a:lnTo>
                  <a:pt x="8127781" y="0"/>
                </a:lnTo>
                <a:lnTo>
                  <a:pt x="8127781" y="2428304"/>
                </a:lnTo>
                <a:lnTo>
                  <a:pt x="0" y="2428304"/>
                </a:lnTo>
                <a:lnTo>
                  <a:pt x="0" y="0"/>
                </a:lnTo>
                <a:close/>
              </a:path>
            </a:pathLst>
          </a:custGeom>
          <a:blipFill>
            <a:blip r:embed="rId2"/>
            <a:stretch>
              <a:fillRect l="-424" r="-424"/>
            </a:stretch>
          </a:blipFill>
        </p:spPr>
        <p:txBody>
          <a:bodyPr/>
          <a:lstStyle/>
          <a:p>
            <a:endParaRPr lang="en-US"/>
          </a:p>
        </p:txBody>
      </p:sp>
      <p:sp>
        <p:nvSpPr>
          <p:cNvPr id="3" name="Freeform 3"/>
          <p:cNvSpPr/>
          <p:nvPr/>
        </p:nvSpPr>
        <p:spPr>
          <a:xfrm>
            <a:off x="13272140" y="6544629"/>
            <a:ext cx="3631560" cy="2063947"/>
          </a:xfrm>
          <a:custGeom>
            <a:avLst/>
            <a:gdLst/>
            <a:ahLst/>
            <a:cxnLst/>
            <a:rect l="l" t="t" r="r" b="b"/>
            <a:pathLst>
              <a:path w="3631560" h="2063947">
                <a:moveTo>
                  <a:pt x="0" y="0"/>
                </a:moveTo>
                <a:lnTo>
                  <a:pt x="3631560" y="0"/>
                </a:lnTo>
                <a:lnTo>
                  <a:pt x="3631560" y="2063946"/>
                </a:lnTo>
                <a:lnTo>
                  <a:pt x="0" y="2063946"/>
                </a:lnTo>
                <a:lnTo>
                  <a:pt x="0" y="0"/>
                </a:lnTo>
                <a:close/>
              </a:path>
            </a:pathLst>
          </a:custGeom>
          <a:blipFill>
            <a:blip r:embed="rId3"/>
            <a:stretch>
              <a:fillRect t="-696" b="-696"/>
            </a:stretch>
          </a:blipFill>
        </p:spPr>
        <p:txBody>
          <a:bodyPr/>
          <a:lstStyle/>
          <a:p>
            <a:endParaRPr lang="en-US"/>
          </a:p>
        </p:txBody>
      </p:sp>
      <p:sp>
        <p:nvSpPr>
          <p:cNvPr id="4" name="Freeform 4"/>
          <p:cNvSpPr/>
          <p:nvPr/>
        </p:nvSpPr>
        <p:spPr>
          <a:xfrm>
            <a:off x="9883583" y="6549473"/>
            <a:ext cx="3182219" cy="2059103"/>
          </a:xfrm>
          <a:custGeom>
            <a:avLst/>
            <a:gdLst/>
            <a:ahLst/>
            <a:cxnLst/>
            <a:rect l="l" t="t" r="r" b="b"/>
            <a:pathLst>
              <a:path w="3182219" h="2059103">
                <a:moveTo>
                  <a:pt x="0" y="0"/>
                </a:moveTo>
                <a:lnTo>
                  <a:pt x="3182220" y="0"/>
                </a:lnTo>
                <a:lnTo>
                  <a:pt x="3182220" y="2059102"/>
                </a:lnTo>
                <a:lnTo>
                  <a:pt x="0" y="2059102"/>
                </a:lnTo>
                <a:lnTo>
                  <a:pt x="0" y="0"/>
                </a:lnTo>
                <a:close/>
              </a:path>
            </a:pathLst>
          </a:custGeom>
          <a:blipFill>
            <a:blip r:embed="rId4"/>
            <a:stretch>
              <a:fillRect t="-226" b="-226"/>
            </a:stretch>
          </a:blipFill>
        </p:spPr>
        <p:txBody>
          <a:bodyPr/>
          <a:lstStyle/>
          <a:p>
            <a:endParaRPr lang="en-US"/>
          </a:p>
        </p:txBody>
      </p:sp>
      <p:grpSp>
        <p:nvGrpSpPr>
          <p:cNvPr id="5" name="Group 5"/>
          <p:cNvGrpSpPr/>
          <p:nvPr/>
        </p:nvGrpSpPr>
        <p:grpSpPr>
          <a:xfrm>
            <a:off x="17656465" y="7749231"/>
            <a:ext cx="1078458" cy="1106495"/>
            <a:chOff x="0" y="0"/>
            <a:chExt cx="284038" cy="291422"/>
          </a:xfrm>
        </p:grpSpPr>
        <p:sp>
          <p:nvSpPr>
            <p:cNvPr id="6" name="Freeform 6"/>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7" name="TextBox 7"/>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8" name="Group 8"/>
          <p:cNvGrpSpPr/>
          <p:nvPr/>
        </p:nvGrpSpPr>
        <p:grpSpPr>
          <a:xfrm>
            <a:off x="17656465" y="6668709"/>
            <a:ext cx="1078458" cy="1106495"/>
            <a:chOff x="0" y="0"/>
            <a:chExt cx="284038" cy="291422"/>
          </a:xfrm>
        </p:grpSpPr>
        <p:sp>
          <p:nvSpPr>
            <p:cNvPr id="9" name="Freeform 9"/>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0" name="TextBox 10"/>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1" name="AutoShape 11"/>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2" name="AutoShape 12"/>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3" name="Freeform 13"/>
          <p:cNvSpPr/>
          <p:nvPr/>
        </p:nvSpPr>
        <p:spPr>
          <a:xfrm>
            <a:off x="7008686" y="2744790"/>
            <a:ext cx="477055" cy="358225"/>
          </a:xfrm>
          <a:custGeom>
            <a:avLst/>
            <a:gdLst/>
            <a:ahLst/>
            <a:cxnLst/>
            <a:rect l="l" t="t" r="r" b="b"/>
            <a:pathLst>
              <a:path w="477055" h="358225">
                <a:moveTo>
                  <a:pt x="0" y="0"/>
                </a:moveTo>
                <a:lnTo>
                  <a:pt x="477055" y="0"/>
                </a:lnTo>
                <a:lnTo>
                  <a:pt x="477055" y="358225"/>
                </a:lnTo>
                <a:lnTo>
                  <a:pt x="0" y="3582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TextBox 14"/>
          <p:cNvSpPr txBox="1"/>
          <p:nvPr/>
        </p:nvSpPr>
        <p:spPr>
          <a:xfrm>
            <a:off x="1434467" y="3947795"/>
            <a:ext cx="6401433" cy="21152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System Modules Overview</a:t>
            </a:r>
          </a:p>
        </p:txBody>
      </p:sp>
      <p:sp>
        <p:nvSpPr>
          <p:cNvPr id="15" name="TextBox 15"/>
          <p:cNvSpPr txBox="1"/>
          <p:nvPr/>
        </p:nvSpPr>
        <p:spPr>
          <a:xfrm>
            <a:off x="2478816" y="2173694"/>
            <a:ext cx="3225800" cy="396911"/>
          </a:xfrm>
          <a:prstGeom prst="rect">
            <a:avLst/>
          </a:prstGeom>
        </p:spPr>
        <p:txBody>
          <a:bodyPr lIns="0" tIns="0" rIns="0" bIns="0" rtlCol="0" anchor="t">
            <a:spAutoFit/>
          </a:bodyPr>
          <a:lstStyle/>
          <a:p>
            <a:pPr marL="0" lvl="0" indent="0" algn="l">
              <a:lnSpc>
                <a:spcPts val="2798"/>
              </a:lnSpc>
            </a:pPr>
            <a:r>
              <a:rPr lang="en-US" sz="1998" b="1" dirty="0">
                <a:solidFill>
                  <a:srgbClr val="122620"/>
                </a:solidFill>
                <a:latin typeface="Agrandir Bold"/>
                <a:ea typeface="Agrandir Bold"/>
                <a:cs typeface="Agrandir Bold"/>
                <a:sym typeface="Agrandir Bold"/>
              </a:rPr>
              <a:t>Authentication &amp; Users</a:t>
            </a:r>
          </a:p>
        </p:txBody>
      </p:sp>
      <p:sp>
        <p:nvSpPr>
          <p:cNvPr id="16" name="TextBox 16"/>
          <p:cNvSpPr txBox="1"/>
          <p:nvPr/>
        </p:nvSpPr>
        <p:spPr>
          <a:xfrm>
            <a:off x="2478816" y="2761384"/>
            <a:ext cx="3388584" cy="564257"/>
          </a:xfrm>
          <a:prstGeom prst="rect">
            <a:avLst/>
          </a:prstGeom>
        </p:spPr>
        <p:txBody>
          <a:bodyPr wrap="square" lIns="0" tIns="0" rIns="0" bIns="0" rtlCol="0" anchor="t">
            <a:spAutoFit/>
          </a:bodyPr>
          <a:lstStyle/>
          <a:p>
            <a:pPr marL="0" lvl="0" indent="0" algn="l">
              <a:lnSpc>
                <a:spcPts val="2238"/>
              </a:lnSpc>
            </a:pPr>
            <a:r>
              <a:rPr lang="en-US" sz="2000" dirty="0">
                <a:solidFill>
                  <a:srgbClr val="122620"/>
                </a:solidFill>
                <a:latin typeface="Agrandir"/>
                <a:ea typeface="Agrandir"/>
                <a:cs typeface="Agrandir"/>
                <a:sym typeface="Agrandir"/>
              </a:rPr>
              <a:t>Role-based access control and user management</a:t>
            </a:r>
          </a:p>
        </p:txBody>
      </p:sp>
      <p:sp>
        <p:nvSpPr>
          <p:cNvPr id="17" name="TextBox 17"/>
          <p:cNvSpPr txBox="1"/>
          <p:nvPr/>
        </p:nvSpPr>
        <p:spPr>
          <a:xfrm>
            <a:off x="7954230" y="2173694"/>
            <a:ext cx="3880208" cy="396911"/>
          </a:xfrm>
          <a:prstGeom prst="rect">
            <a:avLst/>
          </a:prstGeom>
        </p:spPr>
        <p:txBody>
          <a:bodyPr lIns="0" tIns="0" rIns="0" bIns="0" rtlCol="0" anchor="t">
            <a:spAutoFit/>
          </a:bodyPr>
          <a:lstStyle/>
          <a:p>
            <a:pPr marL="0" lvl="0" indent="0" algn="l">
              <a:lnSpc>
                <a:spcPts val="2798"/>
              </a:lnSpc>
            </a:pPr>
            <a:r>
              <a:rPr lang="en-US" sz="1998" b="1">
                <a:solidFill>
                  <a:srgbClr val="122620"/>
                </a:solidFill>
                <a:latin typeface="Agrandir Bold"/>
                <a:ea typeface="Agrandir Bold"/>
                <a:cs typeface="Agrandir Bold"/>
                <a:sym typeface="Agrandir Bold"/>
              </a:rPr>
              <a:t>Materials Management</a:t>
            </a:r>
          </a:p>
        </p:txBody>
      </p:sp>
      <p:sp>
        <p:nvSpPr>
          <p:cNvPr id="18" name="TextBox 18"/>
          <p:cNvSpPr txBox="1"/>
          <p:nvPr/>
        </p:nvSpPr>
        <p:spPr>
          <a:xfrm>
            <a:off x="7954230" y="2761385"/>
            <a:ext cx="3880208" cy="564257"/>
          </a:xfrm>
          <a:prstGeom prst="rect">
            <a:avLst/>
          </a:prstGeom>
        </p:spPr>
        <p:txBody>
          <a:bodyPr lIns="0" tIns="0" rIns="0" bIns="0" rtlCol="0" anchor="t">
            <a:spAutoFit/>
          </a:bodyPr>
          <a:lstStyle/>
          <a:p>
            <a:pPr marL="0" lvl="0" indent="0" algn="l">
              <a:lnSpc>
                <a:spcPts val="2238"/>
              </a:lnSpc>
            </a:pPr>
            <a:r>
              <a:rPr lang="en-US" sz="2000">
                <a:solidFill>
                  <a:srgbClr val="122620"/>
                </a:solidFill>
                <a:latin typeface="Agrandir"/>
                <a:ea typeface="Agrandir"/>
                <a:cs typeface="Agrandir"/>
                <a:sym typeface="Agrandir"/>
              </a:rPr>
              <a:t>Paper, Ink, and Chemical inventory tracking</a:t>
            </a:r>
          </a:p>
        </p:txBody>
      </p:sp>
      <p:sp>
        <p:nvSpPr>
          <p:cNvPr id="19" name="TextBox 19"/>
          <p:cNvSpPr txBox="1"/>
          <p:nvPr/>
        </p:nvSpPr>
        <p:spPr>
          <a:xfrm>
            <a:off x="13379092" y="2173694"/>
            <a:ext cx="3880208" cy="396911"/>
          </a:xfrm>
          <a:prstGeom prst="rect">
            <a:avLst/>
          </a:prstGeom>
        </p:spPr>
        <p:txBody>
          <a:bodyPr lIns="0" tIns="0" rIns="0" bIns="0" rtlCol="0" anchor="t">
            <a:spAutoFit/>
          </a:bodyPr>
          <a:lstStyle/>
          <a:p>
            <a:pPr marL="0" lvl="0" indent="0" algn="l">
              <a:lnSpc>
                <a:spcPts val="2798"/>
              </a:lnSpc>
            </a:pPr>
            <a:r>
              <a:rPr lang="en-US" sz="1998" b="1">
                <a:solidFill>
                  <a:srgbClr val="122620"/>
                </a:solidFill>
                <a:latin typeface="Agrandir Bold"/>
                <a:ea typeface="Agrandir Bold"/>
                <a:cs typeface="Agrandir Bold"/>
                <a:sym typeface="Agrandir Bold"/>
              </a:rPr>
              <a:t>Production Orders</a:t>
            </a:r>
          </a:p>
        </p:txBody>
      </p:sp>
      <p:sp>
        <p:nvSpPr>
          <p:cNvPr id="20" name="TextBox 20"/>
          <p:cNvSpPr txBox="1"/>
          <p:nvPr/>
        </p:nvSpPr>
        <p:spPr>
          <a:xfrm>
            <a:off x="13379092" y="2761385"/>
            <a:ext cx="3880208" cy="564257"/>
          </a:xfrm>
          <a:prstGeom prst="rect">
            <a:avLst/>
          </a:prstGeom>
        </p:spPr>
        <p:txBody>
          <a:bodyPr lIns="0" tIns="0" rIns="0" bIns="0" rtlCol="0" anchor="t">
            <a:spAutoFit/>
          </a:bodyPr>
          <a:lstStyle/>
          <a:p>
            <a:pPr marL="0" lvl="0" indent="0" algn="l">
              <a:lnSpc>
                <a:spcPts val="2238"/>
              </a:lnSpc>
            </a:pPr>
            <a:r>
              <a:rPr lang="en-US" sz="2000" dirty="0">
                <a:solidFill>
                  <a:srgbClr val="122620"/>
                </a:solidFill>
                <a:latin typeface="Agrandir"/>
                <a:ea typeface="Agrandir"/>
                <a:cs typeface="Agrandir"/>
                <a:sym typeface="Agrandir"/>
              </a:rPr>
              <a:t>End-to-end order lifecycle and status management</a:t>
            </a:r>
          </a:p>
        </p:txBody>
      </p:sp>
      <p:sp>
        <p:nvSpPr>
          <p:cNvPr id="21" name="TextBox 21"/>
          <p:cNvSpPr txBox="1"/>
          <p:nvPr/>
        </p:nvSpPr>
        <p:spPr>
          <a:xfrm>
            <a:off x="1434467" y="6449379"/>
            <a:ext cx="6351266" cy="14262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All modules connect through a centralized data layer. Companies, Products, and Materials feed into Production Orders. Business Logic handles optimization and calculations. Inventory adjusts automatically on order execution, ensuring accurate stock control across the entire workflow.</a:t>
            </a:r>
          </a:p>
        </p:txBody>
      </p:sp>
      <p:sp>
        <p:nvSpPr>
          <p:cNvPr id="22" name="TextBox 22"/>
          <p:cNvSpPr txBox="1"/>
          <p:nvPr/>
        </p:nvSpPr>
        <p:spPr>
          <a:xfrm>
            <a:off x="90678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Home</a:t>
            </a:r>
          </a:p>
        </p:txBody>
      </p:sp>
      <p:sp>
        <p:nvSpPr>
          <p:cNvPr id="23" name="TextBox 23"/>
          <p:cNvSpPr txBox="1"/>
          <p:nvPr/>
        </p:nvSpPr>
        <p:spPr>
          <a:xfrm>
            <a:off x="121412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About</a:t>
            </a:r>
          </a:p>
        </p:txBody>
      </p:sp>
      <p:sp>
        <p:nvSpPr>
          <p:cNvPr id="24" name="TextBox 24"/>
          <p:cNvSpPr txBox="1"/>
          <p:nvPr/>
        </p:nvSpPr>
        <p:spPr>
          <a:xfrm>
            <a:off x="152146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Product</a:t>
            </a:r>
          </a:p>
        </p:txBody>
      </p:sp>
      <p:sp>
        <p:nvSpPr>
          <p:cNvPr id="25" name="TextBox 25"/>
          <p:cNvSpPr txBox="1"/>
          <p:nvPr/>
        </p:nvSpPr>
        <p:spPr>
          <a:xfrm>
            <a:off x="15367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03</a:t>
            </a:r>
          </a:p>
        </p:txBody>
      </p:sp>
      <p:sp>
        <p:nvSpPr>
          <p:cNvPr id="26" name="Freeform 26"/>
          <p:cNvSpPr/>
          <p:nvPr/>
        </p:nvSpPr>
        <p:spPr>
          <a:xfrm>
            <a:off x="12588748" y="2744790"/>
            <a:ext cx="477055" cy="358225"/>
          </a:xfrm>
          <a:custGeom>
            <a:avLst/>
            <a:gdLst/>
            <a:ahLst/>
            <a:cxnLst/>
            <a:rect l="l" t="t" r="r" b="b"/>
            <a:pathLst>
              <a:path w="477055" h="358225">
                <a:moveTo>
                  <a:pt x="0" y="0"/>
                </a:moveTo>
                <a:lnTo>
                  <a:pt x="477055" y="0"/>
                </a:lnTo>
                <a:lnTo>
                  <a:pt x="477055" y="358225"/>
                </a:lnTo>
                <a:lnTo>
                  <a:pt x="0" y="3582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7" name="Freeform 27"/>
          <p:cNvSpPr/>
          <p:nvPr/>
        </p:nvSpPr>
        <p:spPr>
          <a:xfrm>
            <a:off x="1535036" y="2744790"/>
            <a:ext cx="477055" cy="358225"/>
          </a:xfrm>
          <a:custGeom>
            <a:avLst/>
            <a:gdLst/>
            <a:ahLst/>
            <a:cxnLst/>
            <a:rect l="l" t="t" r="r" b="b"/>
            <a:pathLst>
              <a:path w="477055" h="358225">
                <a:moveTo>
                  <a:pt x="0" y="0"/>
                </a:moveTo>
                <a:lnTo>
                  <a:pt x="477055" y="0"/>
                </a:lnTo>
                <a:lnTo>
                  <a:pt x="477055" y="358225"/>
                </a:lnTo>
                <a:lnTo>
                  <a:pt x="0" y="3582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4841" y="2745451"/>
            <a:ext cx="5246370" cy="2398049"/>
            <a:chOff x="0" y="0"/>
            <a:chExt cx="812800" cy="371520"/>
          </a:xfrm>
        </p:grpSpPr>
        <p:sp>
          <p:nvSpPr>
            <p:cNvPr id="3" name="Freeform 3"/>
            <p:cNvSpPr/>
            <p:nvPr/>
          </p:nvSpPr>
          <p:spPr>
            <a:xfrm>
              <a:off x="0" y="0"/>
              <a:ext cx="812800" cy="371520"/>
            </a:xfrm>
            <a:custGeom>
              <a:avLst/>
              <a:gdLst/>
              <a:ahLst/>
              <a:cxnLst/>
              <a:rect l="l" t="t" r="r" b="b"/>
              <a:pathLst>
                <a:path w="812800" h="371520">
                  <a:moveTo>
                    <a:pt x="0" y="0"/>
                  </a:moveTo>
                  <a:lnTo>
                    <a:pt x="812800" y="0"/>
                  </a:lnTo>
                  <a:lnTo>
                    <a:pt x="812800" y="371520"/>
                  </a:lnTo>
                  <a:lnTo>
                    <a:pt x="0" y="371520"/>
                  </a:lnTo>
                  <a:close/>
                </a:path>
              </a:pathLst>
            </a:custGeom>
            <a:blipFill>
              <a:blip r:embed="rId2"/>
              <a:stretch>
                <a:fillRect t="-592" b="-592"/>
              </a:stretch>
            </a:blipFill>
          </p:spPr>
          <p:txBody>
            <a:bodyPr/>
            <a:lstStyle/>
            <a:p>
              <a:endParaRPr lang="en-US"/>
            </a:p>
          </p:txBody>
        </p:sp>
      </p:grpSp>
      <p:grpSp>
        <p:nvGrpSpPr>
          <p:cNvPr id="4" name="Group 4"/>
          <p:cNvGrpSpPr/>
          <p:nvPr/>
        </p:nvGrpSpPr>
        <p:grpSpPr>
          <a:xfrm>
            <a:off x="954841" y="5327521"/>
            <a:ext cx="3147259" cy="2584810"/>
            <a:chOff x="0" y="0"/>
            <a:chExt cx="487593" cy="400455"/>
          </a:xfrm>
        </p:grpSpPr>
        <p:sp>
          <p:nvSpPr>
            <p:cNvPr id="5" name="Freeform 5"/>
            <p:cNvSpPr/>
            <p:nvPr/>
          </p:nvSpPr>
          <p:spPr>
            <a:xfrm>
              <a:off x="0" y="0"/>
              <a:ext cx="487593" cy="400455"/>
            </a:xfrm>
            <a:custGeom>
              <a:avLst/>
              <a:gdLst/>
              <a:ahLst/>
              <a:cxnLst/>
              <a:rect l="l" t="t" r="r" b="b"/>
              <a:pathLst>
                <a:path w="487593" h="400455">
                  <a:moveTo>
                    <a:pt x="0" y="0"/>
                  </a:moveTo>
                  <a:lnTo>
                    <a:pt x="487593" y="0"/>
                  </a:lnTo>
                  <a:lnTo>
                    <a:pt x="487593" y="400455"/>
                  </a:lnTo>
                  <a:lnTo>
                    <a:pt x="0" y="400455"/>
                  </a:lnTo>
                  <a:close/>
                </a:path>
              </a:pathLst>
            </a:custGeom>
            <a:blipFill>
              <a:blip r:embed="rId3"/>
              <a:stretch>
                <a:fillRect l="-308" r="-308"/>
              </a:stretch>
            </a:blipFill>
          </p:spPr>
          <p:txBody>
            <a:bodyPr/>
            <a:lstStyle/>
            <a:p>
              <a:endParaRPr lang="en-US"/>
            </a:p>
          </p:txBody>
        </p:sp>
      </p:grpSp>
      <p:grpSp>
        <p:nvGrpSpPr>
          <p:cNvPr id="6" name="Group 6"/>
          <p:cNvGrpSpPr/>
          <p:nvPr/>
        </p:nvGrpSpPr>
        <p:grpSpPr>
          <a:xfrm>
            <a:off x="4254500" y="5327521"/>
            <a:ext cx="1946711" cy="2584810"/>
            <a:chOff x="0" y="0"/>
            <a:chExt cx="301596" cy="400455"/>
          </a:xfrm>
        </p:grpSpPr>
        <p:sp>
          <p:nvSpPr>
            <p:cNvPr id="7" name="Freeform 7"/>
            <p:cNvSpPr/>
            <p:nvPr/>
          </p:nvSpPr>
          <p:spPr>
            <a:xfrm>
              <a:off x="0" y="0"/>
              <a:ext cx="301596" cy="400455"/>
            </a:xfrm>
            <a:custGeom>
              <a:avLst/>
              <a:gdLst/>
              <a:ahLst/>
              <a:cxnLst/>
              <a:rect l="l" t="t" r="r" b="b"/>
              <a:pathLst>
                <a:path w="301596" h="400455">
                  <a:moveTo>
                    <a:pt x="0" y="0"/>
                  </a:moveTo>
                  <a:lnTo>
                    <a:pt x="301596" y="0"/>
                  </a:lnTo>
                  <a:lnTo>
                    <a:pt x="301596" y="400455"/>
                  </a:lnTo>
                  <a:lnTo>
                    <a:pt x="0" y="400455"/>
                  </a:lnTo>
                  <a:close/>
                </a:path>
              </a:pathLst>
            </a:custGeom>
            <a:blipFill>
              <a:blip r:embed="rId4"/>
              <a:stretch>
                <a:fillRect l="-206" r="-206"/>
              </a:stretch>
            </a:blipFill>
          </p:spPr>
          <p:txBody>
            <a:bodyPr/>
            <a:lstStyle/>
            <a:p>
              <a:endParaRPr lang="en-US"/>
            </a:p>
          </p:txBody>
        </p:sp>
      </p:grpSp>
      <p:grpSp>
        <p:nvGrpSpPr>
          <p:cNvPr id="8" name="Group 8"/>
          <p:cNvGrpSpPr/>
          <p:nvPr/>
        </p:nvGrpSpPr>
        <p:grpSpPr>
          <a:xfrm>
            <a:off x="12649200" y="2914365"/>
            <a:ext cx="4310108" cy="4834866"/>
            <a:chOff x="0" y="0"/>
            <a:chExt cx="667748" cy="749047"/>
          </a:xfrm>
        </p:grpSpPr>
        <p:sp>
          <p:nvSpPr>
            <p:cNvPr id="9" name="Freeform 9"/>
            <p:cNvSpPr/>
            <p:nvPr/>
          </p:nvSpPr>
          <p:spPr>
            <a:xfrm>
              <a:off x="0" y="0"/>
              <a:ext cx="667748" cy="749047"/>
            </a:xfrm>
            <a:custGeom>
              <a:avLst/>
              <a:gdLst/>
              <a:ahLst/>
              <a:cxnLst/>
              <a:rect l="l" t="t" r="r" b="b"/>
              <a:pathLst>
                <a:path w="667748" h="749047">
                  <a:moveTo>
                    <a:pt x="0" y="0"/>
                  </a:moveTo>
                  <a:lnTo>
                    <a:pt x="667748" y="0"/>
                  </a:lnTo>
                  <a:lnTo>
                    <a:pt x="667748" y="749047"/>
                  </a:lnTo>
                  <a:lnTo>
                    <a:pt x="0" y="749047"/>
                  </a:lnTo>
                  <a:close/>
                </a:path>
              </a:pathLst>
            </a:custGeom>
            <a:blipFill>
              <a:blip r:embed="rId5"/>
              <a:stretch>
                <a:fillRect l="-268" r="-268"/>
              </a:stretch>
            </a:blipFill>
          </p:spPr>
          <p:txBody>
            <a:bodyPr/>
            <a:lstStyle/>
            <a:p>
              <a:endParaRPr lang="en-US"/>
            </a:p>
          </p:txBody>
        </p:sp>
      </p:grpSp>
      <p:grpSp>
        <p:nvGrpSpPr>
          <p:cNvPr id="10" name="Group 10"/>
          <p:cNvGrpSpPr/>
          <p:nvPr/>
        </p:nvGrpSpPr>
        <p:grpSpPr>
          <a:xfrm>
            <a:off x="17656465" y="7749231"/>
            <a:ext cx="1078458" cy="1106495"/>
            <a:chOff x="0" y="0"/>
            <a:chExt cx="284038" cy="291422"/>
          </a:xfrm>
        </p:grpSpPr>
        <p:sp>
          <p:nvSpPr>
            <p:cNvPr id="11" name="Freeform 11"/>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12" name="TextBox 12"/>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3" name="Group 13"/>
          <p:cNvGrpSpPr/>
          <p:nvPr/>
        </p:nvGrpSpPr>
        <p:grpSpPr>
          <a:xfrm>
            <a:off x="17656465" y="6668709"/>
            <a:ext cx="1078458" cy="1106495"/>
            <a:chOff x="0" y="0"/>
            <a:chExt cx="284038" cy="291422"/>
          </a:xfrm>
        </p:grpSpPr>
        <p:sp>
          <p:nvSpPr>
            <p:cNvPr id="14" name="Freeform 14"/>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5" name="TextBox 15"/>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6" name="AutoShape 16"/>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AutoShape 17"/>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8" name="TextBox 18"/>
          <p:cNvSpPr txBox="1"/>
          <p:nvPr/>
        </p:nvSpPr>
        <p:spPr>
          <a:xfrm>
            <a:off x="7156276" y="2704815"/>
            <a:ext cx="4565798" cy="1624170"/>
          </a:xfrm>
          <a:prstGeom prst="rect">
            <a:avLst/>
          </a:prstGeom>
        </p:spPr>
        <p:txBody>
          <a:bodyPr lIns="0" tIns="0" rIns="0" bIns="0" rtlCol="0" anchor="t">
            <a:spAutoFit/>
          </a:bodyPr>
          <a:lstStyle/>
          <a:p>
            <a:pPr marL="0" lvl="0" indent="0" algn="l">
              <a:lnSpc>
                <a:spcPts val="6028"/>
              </a:lnSpc>
            </a:pPr>
            <a:r>
              <a:rPr lang="en-US" sz="4306">
                <a:solidFill>
                  <a:srgbClr val="122620"/>
                </a:solidFill>
                <a:latin typeface="Agrandir"/>
                <a:ea typeface="Agrandir"/>
                <a:cs typeface="Agrandir"/>
                <a:sym typeface="Agrandir"/>
              </a:rPr>
              <a:t>Production Order</a:t>
            </a:r>
          </a:p>
          <a:p>
            <a:pPr marL="0" lvl="0" indent="0" algn="l">
              <a:lnSpc>
                <a:spcPts val="6028"/>
              </a:lnSpc>
            </a:pPr>
            <a:r>
              <a:rPr lang="en-US" sz="4306">
                <a:solidFill>
                  <a:srgbClr val="122620"/>
                </a:solidFill>
                <a:latin typeface="Agrandir"/>
                <a:ea typeface="Agrandir"/>
                <a:cs typeface="Agrandir"/>
                <a:sym typeface="Agrandir"/>
              </a:rPr>
              <a:t>Workflow</a:t>
            </a:r>
          </a:p>
        </p:txBody>
      </p:sp>
      <p:sp>
        <p:nvSpPr>
          <p:cNvPr id="19" name="TextBox 19"/>
          <p:cNvSpPr txBox="1"/>
          <p:nvPr/>
        </p:nvSpPr>
        <p:spPr>
          <a:xfrm>
            <a:off x="7156276" y="5241796"/>
            <a:ext cx="4610100" cy="2821285"/>
          </a:xfrm>
          <a:prstGeom prst="rect">
            <a:avLst/>
          </a:prstGeom>
        </p:spPr>
        <p:txBody>
          <a:bodyPr lIns="0" tIns="0" rIns="0" bIns="0" rtlCol="0" anchor="t">
            <a:spAutoFit/>
          </a:bodyPr>
          <a:lstStyle/>
          <a:p>
            <a:pPr marL="0" lvl="0" indent="0" algn="l">
              <a:lnSpc>
                <a:spcPts val="2238"/>
              </a:lnSpc>
            </a:pPr>
            <a:r>
              <a:rPr lang="en-US" sz="2000" dirty="0">
                <a:solidFill>
                  <a:srgbClr val="122620"/>
                </a:solidFill>
                <a:latin typeface="Agrandir"/>
                <a:ea typeface="Agrandir"/>
                <a:cs typeface="Agrandir"/>
                <a:sym typeface="Agrandir"/>
              </a:rPr>
              <a:t>Company → Product → Quantity → Select Paper → Select Inks &amp; Chemicals → Optimization &amp; Calculations → Stock Validation → Production Order → Production Status → Inventory Adjustment</a:t>
            </a:r>
          </a:p>
          <a:p>
            <a:pPr marL="0" lvl="0" indent="0" algn="l">
              <a:lnSpc>
                <a:spcPts val="2238"/>
              </a:lnSpc>
            </a:pPr>
            <a:r>
              <a:rPr lang="en-US" sz="2000" dirty="0">
                <a:solidFill>
                  <a:srgbClr val="122620"/>
                </a:solidFill>
                <a:latin typeface="Agrandir"/>
                <a:ea typeface="Agrandir"/>
                <a:cs typeface="Agrandir"/>
                <a:sym typeface="Agrandir"/>
              </a:rPr>
              <a:t>Key Data: Company, Product, Quantity, Paper, Ink(s), Chemical(s), Required Sheets, Status &amp; Description.</a:t>
            </a:r>
          </a:p>
        </p:txBody>
      </p:sp>
      <p:sp>
        <p:nvSpPr>
          <p:cNvPr id="20" name="TextBox 20"/>
          <p:cNvSpPr txBox="1"/>
          <p:nvPr/>
        </p:nvSpPr>
        <p:spPr>
          <a:xfrm>
            <a:off x="9067800" y="1184666"/>
            <a:ext cx="1536700" cy="235448"/>
          </a:xfrm>
          <a:prstGeom prst="rect">
            <a:avLst/>
          </a:prstGeom>
        </p:spPr>
        <p:txBody>
          <a:bodyPr lIns="0" tIns="0" rIns="0" bIns="0" rtlCol="0" anchor="t">
            <a:spAutoFit/>
          </a:bodyPr>
          <a:lstStyle/>
          <a:p>
            <a:pPr marL="0" lvl="0" indent="0" algn="l">
              <a:lnSpc>
                <a:spcPts val="1722"/>
              </a:lnSpc>
            </a:pPr>
            <a:r>
              <a:rPr lang="en-US" sz="1230">
                <a:solidFill>
                  <a:srgbClr val="122620"/>
                </a:solidFill>
                <a:latin typeface="Agrandir"/>
                <a:ea typeface="Agrandir"/>
                <a:cs typeface="Agrandir"/>
                <a:sym typeface="Agrandir"/>
              </a:rPr>
              <a:t>Home</a:t>
            </a:r>
          </a:p>
        </p:txBody>
      </p:sp>
      <p:sp>
        <p:nvSpPr>
          <p:cNvPr id="21" name="TextBox 21"/>
          <p:cNvSpPr txBox="1"/>
          <p:nvPr/>
        </p:nvSpPr>
        <p:spPr>
          <a:xfrm>
            <a:off x="12141200" y="1184666"/>
            <a:ext cx="1536700" cy="235448"/>
          </a:xfrm>
          <a:prstGeom prst="rect">
            <a:avLst/>
          </a:prstGeom>
        </p:spPr>
        <p:txBody>
          <a:bodyPr lIns="0" tIns="0" rIns="0" bIns="0" rtlCol="0" anchor="t">
            <a:spAutoFit/>
          </a:bodyPr>
          <a:lstStyle/>
          <a:p>
            <a:pPr marL="0" lvl="0" indent="0" algn="l">
              <a:lnSpc>
                <a:spcPts val="1722"/>
              </a:lnSpc>
            </a:pPr>
            <a:r>
              <a:rPr lang="en-US" sz="1230">
                <a:solidFill>
                  <a:srgbClr val="122620"/>
                </a:solidFill>
                <a:latin typeface="Agrandir"/>
                <a:ea typeface="Agrandir"/>
                <a:cs typeface="Agrandir"/>
                <a:sym typeface="Agrandir"/>
              </a:rPr>
              <a:t>About</a:t>
            </a:r>
          </a:p>
        </p:txBody>
      </p:sp>
      <p:sp>
        <p:nvSpPr>
          <p:cNvPr id="22" name="TextBox 22"/>
          <p:cNvSpPr txBox="1"/>
          <p:nvPr/>
        </p:nvSpPr>
        <p:spPr>
          <a:xfrm>
            <a:off x="15214600" y="1184666"/>
            <a:ext cx="1536700" cy="235448"/>
          </a:xfrm>
          <a:prstGeom prst="rect">
            <a:avLst/>
          </a:prstGeom>
        </p:spPr>
        <p:txBody>
          <a:bodyPr lIns="0" tIns="0" rIns="0" bIns="0" rtlCol="0" anchor="t">
            <a:spAutoFit/>
          </a:bodyPr>
          <a:lstStyle/>
          <a:p>
            <a:pPr marL="0" lvl="0" indent="0" algn="l">
              <a:lnSpc>
                <a:spcPts val="1722"/>
              </a:lnSpc>
            </a:pPr>
            <a:r>
              <a:rPr lang="en-US" sz="1230">
                <a:solidFill>
                  <a:srgbClr val="122620"/>
                </a:solidFill>
                <a:latin typeface="Agrandir"/>
                <a:ea typeface="Agrandir"/>
                <a:cs typeface="Agrandir"/>
                <a:sym typeface="Agrandir"/>
              </a:rPr>
              <a:t>Product</a:t>
            </a:r>
          </a:p>
        </p:txBody>
      </p:sp>
      <p:sp>
        <p:nvSpPr>
          <p:cNvPr id="23" name="TextBox 23"/>
          <p:cNvSpPr txBox="1"/>
          <p:nvPr/>
        </p:nvSpPr>
        <p:spPr>
          <a:xfrm>
            <a:off x="15367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7683500" y="3671300"/>
            <a:ext cx="4960681" cy="4798235"/>
            <a:chOff x="0" y="0"/>
            <a:chExt cx="768539" cy="743372"/>
          </a:xfrm>
        </p:grpSpPr>
        <p:sp>
          <p:nvSpPr>
            <p:cNvPr id="3" name="Freeform 3"/>
            <p:cNvSpPr/>
            <p:nvPr/>
          </p:nvSpPr>
          <p:spPr>
            <a:xfrm>
              <a:off x="0" y="0"/>
              <a:ext cx="768539" cy="743372"/>
            </a:xfrm>
            <a:custGeom>
              <a:avLst/>
              <a:gdLst/>
              <a:ahLst/>
              <a:cxnLst/>
              <a:rect l="l" t="t" r="r" b="b"/>
              <a:pathLst>
                <a:path w="768539" h="743372">
                  <a:moveTo>
                    <a:pt x="0" y="0"/>
                  </a:moveTo>
                  <a:lnTo>
                    <a:pt x="768539" y="0"/>
                  </a:lnTo>
                  <a:lnTo>
                    <a:pt x="768539" y="743372"/>
                  </a:lnTo>
                  <a:lnTo>
                    <a:pt x="0" y="743372"/>
                  </a:lnTo>
                  <a:close/>
                </a:path>
              </a:pathLst>
            </a:custGeom>
            <a:blipFill>
              <a:blip r:embed="rId2"/>
              <a:stretch>
                <a:fillRect l="-707" r="-707"/>
              </a:stretch>
            </a:blipFill>
          </p:spPr>
          <p:txBody>
            <a:bodyPr/>
            <a:lstStyle/>
            <a:p>
              <a:endParaRPr lang="en-US"/>
            </a:p>
          </p:txBody>
        </p:sp>
      </p:grpSp>
      <p:grpSp>
        <p:nvGrpSpPr>
          <p:cNvPr id="4" name="Group 4"/>
          <p:cNvGrpSpPr/>
          <p:nvPr/>
        </p:nvGrpSpPr>
        <p:grpSpPr>
          <a:xfrm>
            <a:off x="13167311" y="4572538"/>
            <a:ext cx="3736389" cy="3896997"/>
            <a:chOff x="0" y="0"/>
            <a:chExt cx="578864" cy="603747"/>
          </a:xfrm>
        </p:grpSpPr>
        <p:sp>
          <p:nvSpPr>
            <p:cNvPr id="5" name="Freeform 5"/>
            <p:cNvSpPr/>
            <p:nvPr/>
          </p:nvSpPr>
          <p:spPr>
            <a:xfrm>
              <a:off x="0" y="0"/>
              <a:ext cx="578864" cy="603747"/>
            </a:xfrm>
            <a:custGeom>
              <a:avLst/>
              <a:gdLst/>
              <a:ahLst/>
              <a:cxnLst/>
              <a:rect l="l" t="t" r="r" b="b"/>
              <a:pathLst>
                <a:path w="578864" h="603747">
                  <a:moveTo>
                    <a:pt x="0" y="0"/>
                  </a:moveTo>
                  <a:lnTo>
                    <a:pt x="578864" y="0"/>
                  </a:lnTo>
                  <a:lnTo>
                    <a:pt x="578864" y="603747"/>
                  </a:lnTo>
                  <a:lnTo>
                    <a:pt x="0" y="603747"/>
                  </a:lnTo>
                  <a:close/>
                </a:path>
              </a:pathLst>
            </a:custGeom>
            <a:blipFill>
              <a:blip r:embed="rId3"/>
              <a:stretch>
                <a:fillRect t="-264" b="-264"/>
              </a:stretch>
            </a:blipFill>
          </p:spPr>
          <p:txBody>
            <a:bodyPr/>
            <a:lstStyle/>
            <a:p>
              <a:endParaRPr lang="en-US"/>
            </a:p>
          </p:txBody>
        </p:sp>
      </p:grpSp>
      <p:sp>
        <p:nvSpPr>
          <p:cNvPr id="6" name="Freeform 6"/>
          <p:cNvSpPr/>
          <p:nvPr/>
        </p:nvSpPr>
        <p:spPr>
          <a:xfrm>
            <a:off x="10209967" y="-2033260"/>
            <a:ext cx="9651076" cy="10287000"/>
          </a:xfrm>
          <a:custGeom>
            <a:avLst/>
            <a:gdLst/>
            <a:ahLst/>
            <a:cxnLst/>
            <a:rect l="l" t="t" r="r" b="b"/>
            <a:pathLst>
              <a:path w="9651076" h="10287000">
                <a:moveTo>
                  <a:pt x="0" y="0"/>
                </a:moveTo>
                <a:lnTo>
                  <a:pt x="9651077" y="0"/>
                </a:lnTo>
                <a:lnTo>
                  <a:pt x="9651077" y="10287000"/>
                </a:lnTo>
                <a:lnTo>
                  <a:pt x="0" y="10287000"/>
                </a:lnTo>
                <a:lnTo>
                  <a:pt x="0" y="0"/>
                </a:lnTo>
                <a:close/>
              </a:path>
            </a:pathLst>
          </a:custGeom>
          <a:blipFill>
            <a:blip r:embed="rId4">
              <a:alphaModFix amt="17000"/>
            </a:blip>
            <a:stretch>
              <a:fillRect/>
            </a:stretch>
          </a:blipFill>
        </p:spPr>
        <p:txBody>
          <a:bodyPr/>
          <a:lstStyle/>
          <a:p>
            <a:endParaRPr lang="en-US"/>
          </a:p>
        </p:txBody>
      </p:sp>
      <p:sp>
        <p:nvSpPr>
          <p:cNvPr id="7" name="Freeform 7"/>
          <p:cNvSpPr/>
          <p:nvPr/>
        </p:nvSpPr>
        <p:spPr>
          <a:xfrm>
            <a:off x="1732347" y="5552203"/>
            <a:ext cx="666674" cy="646674"/>
          </a:xfrm>
          <a:custGeom>
            <a:avLst/>
            <a:gdLst/>
            <a:ahLst/>
            <a:cxnLst/>
            <a:rect l="l" t="t" r="r" b="b"/>
            <a:pathLst>
              <a:path w="666674" h="646674">
                <a:moveTo>
                  <a:pt x="0" y="0"/>
                </a:moveTo>
                <a:lnTo>
                  <a:pt x="666673" y="0"/>
                </a:lnTo>
                <a:lnTo>
                  <a:pt x="666673" y="646673"/>
                </a:lnTo>
                <a:lnTo>
                  <a:pt x="0" y="646673"/>
                </a:lnTo>
                <a:lnTo>
                  <a:pt x="0" y="0"/>
                </a:lnTo>
                <a:close/>
              </a:path>
            </a:pathLst>
          </a:custGeom>
          <a:blipFill>
            <a:blip r:embed="rId5"/>
            <a:stretch>
              <a:fillRect/>
            </a:stretch>
          </a:blipFill>
        </p:spPr>
        <p:txBody>
          <a:bodyPr/>
          <a:lstStyle/>
          <a:p>
            <a:endParaRPr lang="en-US"/>
          </a:p>
        </p:txBody>
      </p:sp>
      <p:sp>
        <p:nvSpPr>
          <p:cNvPr id="8" name="Freeform 8"/>
          <p:cNvSpPr/>
          <p:nvPr/>
        </p:nvSpPr>
        <p:spPr>
          <a:xfrm>
            <a:off x="1788895" y="7544626"/>
            <a:ext cx="672422" cy="734929"/>
          </a:xfrm>
          <a:custGeom>
            <a:avLst/>
            <a:gdLst/>
            <a:ahLst/>
            <a:cxnLst/>
            <a:rect l="l" t="t" r="r" b="b"/>
            <a:pathLst>
              <a:path w="672422" h="734929">
                <a:moveTo>
                  <a:pt x="0" y="0"/>
                </a:moveTo>
                <a:lnTo>
                  <a:pt x="672422" y="0"/>
                </a:lnTo>
                <a:lnTo>
                  <a:pt x="672422" y="734930"/>
                </a:lnTo>
                <a:lnTo>
                  <a:pt x="0" y="734930"/>
                </a:lnTo>
                <a:lnTo>
                  <a:pt x="0" y="0"/>
                </a:lnTo>
                <a:close/>
              </a:path>
            </a:pathLst>
          </a:custGeom>
          <a:blipFill>
            <a:blip r:embed="rId6"/>
            <a:stretch>
              <a:fillRect/>
            </a:stretch>
          </a:blipFill>
        </p:spPr>
        <p:txBody>
          <a:bodyPr/>
          <a:lstStyle/>
          <a:p>
            <a:endParaRPr lang="en-US"/>
          </a:p>
        </p:txBody>
      </p:sp>
      <p:grpSp>
        <p:nvGrpSpPr>
          <p:cNvPr id="9" name="Group 9"/>
          <p:cNvGrpSpPr/>
          <p:nvPr/>
        </p:nvGrpSpPr>
        <p:grpSpPr>
          <a:xfrm>
            <a:off x="17656465" y="7749231"/>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2" name="Group 12"/>
          <p:cNvGrpSpPr/>
          <p:nvPr/>
        </p:nvGrpSpPr>
        <p:grpSpPr>
          <a:xfrm>
            <a:off x="17656465" y="6668709"/>
            <a:ext cx="1078458" cy="1106495"/>
            <a:chOff x="0" y="0"/>
            <a:chExt cx="284038" cy="291422"/>
          </a:xfrm>
        </p:grpSpPr>
        <p:sp>
          <p:nvSpPr>
            <p:cNvPr id="13" name="Freeform 13"/>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4" name="TextBox 14"/>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5" name="AutoShape 15"/>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6" name="AutoShape 16"/>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TextBox 17"/>
          <p:cNvSpPr txBox="1"/>
          <p:nvPr/>
        </p:nvSpPr>
        <p:spPr>
          <a:xfrm>
            <a:off x="1536700" y="2206871"/>
            <a:ext cx="5054604" cy="21152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Paper Layout Optimization</a:t>
            </a:r>
          </a:p>
        </p:txBody>
      </p:sp>
      <p:sp>
        <p:nvSpPr>
          <p:cNvPr id="18" name="TextBox 18"/>
          <p:cNvSpPr txBox="1"/>
          <p:nvPr/>
        </p:nvSpPr>
        <p:spPr>
          <a:xfrm>
            <a:off x="3073400" y="5093581"/>
            <a:ext cx="3517904"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Algorithm Overview</a:t>
            </a:r>
          </a:p>
        </p:txBody>
      </p:sp>
      <p:sp>
        <p:nvSpPr>
          <p:cNvPr id="19" name="TextBox 19"/>
          <p:cNvSpPr txBox="1"/>
          <p:nvPr/>
        </p:nvSpPr>
        <p:spPr>
          <a:xfrm>
            <a:off x="3073400" y="5770368"/>
            <a:ext cx="3517904" cy="1158459"/>
          </a:xfrm>
          <a:prstGeom prst="rect">
            <a:avLst/>
          </a:prstGeom>
        </p:spPr>
        <p:txBody>
          <a:bodyPr lIns="0" tIns="0" rIns="0" bIns="0" rtlCol="0" anchor="t">
            <a:spAutoFit/>
          </a:bodyPr>
          <a:lstStyle/>
          <a:p>
            <a:pPr marL="0" lvl="0" indent="0" algn="l">
              <a:lnSpc>
                <a:spcPts val="1828"/>
              </a:lnSpc>
            </a:pPr>
            <a:r>
              <a:rPr lang="en-US" dirty="0">
                <a:solidFill>
                  <a:srgbClr val="122620"/>
                </a:solidFill>
                <a:latin typeface="Agrandir"/>
                <a:ea typeface="Agrandir"/>
                <a:cs typeface="Agrandir"/>
                <a:sym typeface="Agrandir"/>
              </a:rPr>
              <a:t>Evaluates 700+ layout combinations to find the optimal arrangement of product pieces on paper sheets, minimizing scrap and waste.</a:t>
            </a:r>
          </a:p>
        </p:txBody>
      </p:sp>
      <p:sp>
        <p:nvSpPr>
          <p:cNvPr id="20" name="TextBox 20"/>
          <p:cNvSpPr txBox="1"/>
          <p:nvPr/>
        </p:nvSpPr>
        <p:spPr>
          <a:xfrm>
            <a:off x="3073400" y="7094124"/>
            <a:ext cx="3517904"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Optimization Output</a:t>
            </a:r>
          </a:p>
        </p:txBody>
      </p:sp>
      <p:sp>
        <p:nvSpPr>
          <p:cNvPr id="21" name="TextBox 21"/>
          <p:cNvSpPr txBox="1"/>
          <p:nvPr/>
        </p:nvSpPr>
        <p:spPr>
          <a:xfrm>
            <a:off x="3073400" y="7614824"/>
            <a:ext cx="3517904" cy="1158459"/>
          </a:xfrm>
          <a:prstGeom prst="rect">
            <a:avLst/>
          </a:prstGeom>
        </p:spPr>
        <p:txBody>
          <a:bodyPr lIns="0" tIns="0" rIns="0" bIns="0" rtlCol="0" anchor="t">
            <a:spAutoFit/>
          </a:bodyPr>
          <a:lstStyle/>
          <a:p>
            <a:pPr marL="0" lvl="0" indent="0" algn="l">
              <a:lnSpc>
                <a:spcPts val="1828"/>
              </a:lnSpc>
            </a:pPr>
            <a:r>
              <a:rPr lang="en-US" sz="2000" dirty="0">
                <a:solidFill>
                  <a:srgbClr val="122620"/>
                </a:solidFill>
                <a:latin typeface="Agrandir"/>
                <a:ea typeface="Agrandir"/>
                <a:cs typeface="Agrandir"/>
                <a:sym typeface="Agrandir"/>
              </a:rPr>
              <a:t>Selects best layout maximizing pieces per sheet, then calculates exact number of sheets required for the production order.</a:t>
            </a:r>
          </a:p>
        </p:txBody>
      </p:sp>
      <p:sp>
        <p:nvSpPr>
          <p:cNvPr id="22" name="TextBox 22"/>
          <p:cNvSpPr txBox="1"/>
          <p:nvPr/>
        </p:nvSpPr>
        <p:spPr>
          <a:xfrm>
            <a:off x="7846093" y="2556519"/>
            <a:ext cx="1297907" cy="888444"/>
          </a:xfrm>
          <a:prstGeom prst="rect">
            <a:avLst/>
          </a:prstGeom>
        </p:spPr>
        <p:txBody>
          <a:bodyPr lIns="0" tIns="0" rIns="0" bIns="0" rtlCol="0" anchor="t">
            <a:spAutoFit/>
          </a:bodyPr>
          <a:lstStyle/>
          <a:p>
            <a:pPr marL="0" lvl="0" indent="0" algn="ctr">
              <a:lnSpc>
                <a:spcPts val="6155"/>
              </a:lnSpc>
            </a:pPr>
            <a:r>
              <a:rPr lang="en-US" sz="4396">
                <a:solidFill>
                  <a:srgbClr val="122620"/>
                </a:solidFill>
                <a:latin typeface="Agrandir"/>
                <a:ea typeface="Agrandir"/>
                <a:cs typeface="Agrandir"/>
                <a:sym typeface="Agrandir"/>
              </a:rPr>
              <a:t>01</a:t>
            </a:r>
          </a:p>
        </p:txBody>
      </p:sp>
      <p:sp>
        <p:nvSpPr>
          <p:cNvPr id="23" name="TextBox 23"/>
          <p:cNvSpPr txBox="1"/>
          <p:nvPr/>
        </p:nvSpPr>
        <p:spPr>
          <a:xfrm>
            <a:off x="13677900" y="3684172"/>
            <a:ext cx="758657" cy="888444"/>
          </a:xfrm>
          <a:prstGeom prst="rect">
            <a:avLst/>
          </a:prstGeom>
        </p:spPr>
        <p:txBody>
          <a:bodyPr lIns="0" tIns="0" rIns="0" bIns="0" rtlCol="0" anchor="t">
            <a:spAutoFit/>
          </a:bodyPr>
          <a:lstStyle/>
          <a:p>
            <a:pPr marL="0" lvl="0" indent="0" algn="ctr">
              <a:lnSpc>
                <a:spcPts val="6155"/>
              </a:lnSpc>
            </a:pPr>
            <a:r>
              <a:rPr lang="en-US" sz="4396">
                <a:solidFill>
                  <a:srgbClr val="122620"/>
                </a:solidFill>
                <a:latin typeface="Agrandir"/>
                <a:ea typeface="Agrandir"/>
                <a:cs typeface="Agrandir"/>
                <a:sym typeface="Agrandir"/>
              </a:rPr>
              <a:t>02</a:t>
            </a:r>
          </a:p>
        </p:txBody>
      </p:sp>
      <p:sp>
        <p:nvSpPr>
          <p:cNvPr id="24" name="TextBox 24"/>
          <p:cNvSpPr txBox="1"/>
          <p:nvPr/>
        </p:nvSpPr>
        <p:spPr>
          <a:xfrm>
            <a:off x="90678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Home</a:t>
            </a:r>
          </a:p>
        </p:txBody>
      </p:sp>
      <p:sp>
        <p:nvSpPr>
          <p:cNvPr id="25" name="TextBox 25"/>
          <p:cNvSpPr txBox="1"/>
          <p:nvPr/>
        </p:nvSpPr>
        <p:spPr>
          <a:xfrm>
            <a:off x="121412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About</a:t>
            </a:r>
          </a:p>
        </p:txBody>
      </p:sp>
      <p:sp>
        <p:nvSpPr>
          <p:cNvPr id="26" name="TextBox 26"/>
          <p:cNvSpPr txBox="1"/>
          <p:nvPr/>
        </p:nvSpPr>
        <p:spPr>
          <a:xfrm>
            <a:off x="152146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Product</a:t>
            </a:r>
          </a:p>
        </p:txBody>
      </p:sp>
      <p:sp>
        <p:nvSpPr>
          <p:cNvPr id="27" name="TextBox 27"/>
          <p:cNvSpPr txBox="1"/>
          <p:nvPr/>
        </p:nvSpPr>
        <p:spPr>
          <a:xfrm>
            <a:off x="1536700" y="1175141"/>
            <a:ext cx="1536700" cy="262109"/>
          </a:xfrm>
          <a:prstGeom prst="rect">
            <a:avLst/>
          </a:prstGeom>
        </p:spPr>
        <p:txBody>
          <a:bodyPr lIns="0" tIns="0" rIns="0" bIns="0" rtlCol="0" anchor="t">
            <a:spAutoFit/>
          </a:bodyPr>
          <a:lstStyle/>
          <a:p>
            <a:pPr marL="0" lvl="0" indent="0" algn="l">
              <a:lnSpc>
                <a:spcPts val="1828"/>
              </a:lnSpc>
            </a:pPr>
            <a:r>
              <a:rPr lang="en-US" sz="1305">
                <a:solidFill>
                  <a:srgbClr val="122620"/>
                </a:solidFill>
                <a:latin typeface="Agrandir"/>
                <a:ea typeface="Agrandir"/>
                <a:cs typeface="Agrandir"/>
                <a:sym typeface="Agrandir"/>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7247140" y="2450968"/>
            <a:ext cx="3128496" cy="6112032"/>
            <a:chOff x="0" y="0"/>
            <a:chExt cx="484686" cy="946914"/>
          </a:xfrm>
        </p:grpSpPr>
        <p:sp>
          <p:nvSpPr>
            <p:cNvPr id="3" name="Freeform 3"/>
            <p:cNvSpPr/>
            <p:nvPr/>
          </p:nvSpPr>
          <p:spPr>
            <a:xfrm>
              <a:off x="0" y="0"/>
              <a:ext cx="484686" cy="946914"/>
            </a:xfrm>
            <a:custGeom>
              <a:avLst/>
              <a:gdLst/>
              <a:ahLst/>
              <a:cxnLst/>
              <a:rect l="l" t="t" r="r" b="b"/>
              <a:pathLst>
                <a:path w="484686" h="946914">
                  <a:moveTo>
                    <a:pt x="0" y="0"/>
                  </a:moveTo>
                  <a:lnTo>
                    <a:pt x="484686" y="0"/>
                  </a:lnTo>
                  <a:lnTo>
                    <a:pt x="484686" y="946914"/>
                  </a:lnTo>
                  <a:lnTo>
                    <a:pt x="0" y="946914"/>
                  </a:lnTo>
                  <a:close/>
                </a:path>
              </a:pathLst>
            </a:custGeom>
            <a:blipFill>
              <a:blip r:embed="rId2"/>
              <a:stretch>
                <a:fillRect t="-182" b="-182"/>
              </a:stretch>
            </a:blipFill>
          </p:spPr>
          <p:txBody>
            <a:bodyPr/>
            <a:lstStyle/>
            <a:p>
              <a:endParaRPr lang="en-US"/>
            </a:p>
          </p:txBody>
        </p:sp>
      </p:grpSp>
      <p:grpSp>
        <p:nvGrpSpPr>
          <p:cNvPr id="4" name="Group 4"/>
          <p:cNvGrpSpPr/>
          <p:nvPr/>
        </p:nvGrpSpPr>
        <p:grpSpPr>
          <a:xfrm>
            <a:off x="1384300" y="2446385"/>
            <a:ext cx="5508808" cy="3125497"/>
            <a:chOff x="0" y="0"/>
            <a:chExt cx="853458" cy="484221"/>
          </a:xfrm>
        </p:grpSpPr>
        <p:sp>
          <p:nvSpPr>
            <p:cNvPr id="5" name="Freeform 5"/>
            <p:cNvSpPr/>
            <p:nvPr/>
          </p:nvSpPr>
          <p:spPr>
            <a:xfrm>
              <a:off x="0" y="0"/>
              <a:ext cx="853458" cy="484221"/>
            </a:xfrm>
            <a:custGeom>
              <a:avLst/>
              <a:gdLst/>
              <a:ahLst/>
              <a:cxnLst/>
              <a:rect l="l" t="t" r="r" b="b"/>
              <a:pathLst>
                <a:path w="853458" h="484221">
                  <a:moveTo>
                    <a:pt x="0" y="0"/>
                  </a:moveTo>
                  <a:lnTo>
                    <a:pt x="853458" y="0"/>
                  </a:lnTo>
                  <a:lnTo>
                    <a:pt x="853458" y="484221"/>
                  </a:lnTo>
                  <a:lnTo>
                    <a:pt x="0" y="484221"/>
                  </a:lnTo>
                  <a:close/>
                </a:path>
              </a:pathLst>
            </a:custGeom>
            <a:blipFill>
              <a:blip r:embed="rId3"/>
              <a:stretch>
                <a:fillRect t="-783" b="-783"/>
              </a:stretch>
            </a:blipFill>
          </p:spPr>
          <p:txBody>
            <a:bodyPr/>
            <a:lstStyle/>
            <a:p>
              <a:endParaRPr lang="en-US"/>
            </a:p>
          </p:txBody>
        </p:sp>
      </p:grpSp>
      <p:sp>
        <p:nvSpPr>
          <p:cNvPr id="6" name="Freeform 6"/>
          <p:cNvSpPr/>
          <p:nvPr/>
        </p:nvSpPr>
        <p:spPr>
          <a:xfrm>
            <a:off x="11121433" y="3461138"/>
            <a:ext cx="697940" cy="813751"/>
          </a:xfrm>
          <a:custGeom>
            <a:avLst/>
            <a:gdLst/>
            <a:ahLst/>
            <a:cxnLst/>
            <a:rect l="l" t="t" r="r" b="b"/>
            <a:pathLst>
              <a:path w="697940" h="813751">
                <a:moveTo>
                  <a:pt x="0" y="0"/>
                </a:moveTo>
                <a:lnTo>
                  <a:pt x="697940" y="0"/>
                </a:lnTo>
                <a:lnTo>
                  <a:pt x="697940" y="813751"/>
                </a:lnTo>
                <a:lnTo>
                  <a:pt x="0" y="813751"/>
                </a:lnTo>
                <a:lnTo>
                  <a:pt x="0" y="0"/>
                </a:lnTo>
                <a:close/>
              </a:path>
            </a:pathLst>
          </a:custGeom>
          <a:blipFill>
            <a:blip r:embed="rId4"/>
            <a:stretch>
              <a:fillRect/>
            </a:stretch>
          </a:blipFill>
        </p:spPr>
        <p:txBody>
          <a:bodyPr/>
          <a:lstStyle/>
          <a:p>
            <a:endParaRPr lang="en-US"/>
          </a:p>
        </p:txBody>
      </p:sp>
      <p:sp>
        <p:nvSpPr>
          <p:cNvPr id="7" name="Freeform 7"/>
          <p:cNvSpPr/>
          <p:nvPr/>
        </p:nvSpPr>
        <p:spPr>
          <a:xfrm>
            <a:off x="11182355" y="6801874"/>
            <a:ext cx="709566" cy="775515"/>
          </a:xfrm>
          <a:custGeom>
            <a:avLst/>
            <a:gdLst/>
            <a:ahLst/>
            <a:cxnLst/>
            <a:rect l="l" t="t" r="r" b="b"/>
            <a:pathLst>
              <a:path w="709566" h="775515">
                <a:moveTo>
                  <a:pt x="0" y="0"/>
                </a:moveTo>
                <a:lnTo>
                  <a:pt x="709566" y="0"/>
                </a:lnTo>
                <a:lnTo>
                  <a:pt x="709566" y="775515"/>
                </a:lnTo>
                <a:lnTo>
                  <a:pt x="0" y="775515"/>
                </a:lnTo>
                <a:lnTo>
                  <a:pt x="0" y="0"/>
                </a:lnTo>
                <a:close/>
              </a:path>
            </a:pathLst>
          </a:custGeom>
          <a:blipFill>
            <a:blip r:embed="rId5"/>
            <a:stretch>
              <a:fillRect/>
            </a:stretch>
          </a:blipFill>
        </p:spPr>
        <p:txBody>
          <a:bodyPr/>
          <a:lstStyle/>
          <a:p>
            <a:endParaRPr lang="en-US"/>
          </a:p>
        </p:txBody>
      </p:sp>
      <p:sp>
        <p:nvSpPr>
          <p:cNvPr id="8" name="Freeform 8"/>
          <p:cNvSpPr/>
          <p:nvPr/>
        </p:nvSpPr>
        <p:spPr>
          <a:xfrm>
            <a:off x="11141475" y="5060768"/>
            <a:ext cx="712616" cy="761441"/>
          </a:xfrm>
          <a:custGeom>
            <a:avLst/>
            <a:gdLst/>
            <a:ahLst/>
            <a:cxnLst/>
            <a:rect l="l" t="t" r="r" b="b"/>
            <a:pathLst>
              <a:path w="712616" h="761441">
                <a:moveTo>
                  <a:pt x="0" y="0"/>
                </a:moveTo>
                <a:lnTo>
                  <a:pt x="712616" y="0"/>
                </a:lnTo>
                <a:lnTo>
                  <a:pt x="712616" y="761441"/>
                </a:lnTo>
                <a:lnTo>
                  <a:pt x="0" y="761441"/>
                </a:lnTo>
                <a:lnTo>
                  <a:pt x="0" y="0"/>
                </a:lnTo>
                <a:close/>
              </a:path>
            </a:pathLst>
          </a:custGeom>
          <a:blipFill>
            <a:blip r:embed="rId6"/>
            <a:stretch>
              <a:fillRect/>
            </a:stretch>
          </a:blipFill>
        </p:spPr>
        <p:txBody>
          <a:bodyPr/>
          <a:lstStyle/>
          <a:p>
            <a:endParaRPr lang="en-US"/>
          </a:p>
        </p:txBody>
      </p:sp>
      <p:grpSp>
        <p:nvGrpSpPr>
          <p:cNvPr id="9" name="Group 9"/>
          <p:cNvGrpSpPr/>
          <p:nvPr/>
        </p:nvGrpSpPr>
        <p:grpSpPr>
          <a:xfrm>
            <a:off x="17656465" y="7749231"/>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2" name="Group 12"/>
          <p:cNvGrpSpPr/>
          <p:nvPr/>
        </p:nvGrpSpPr>
        <p:grpSpPr>
          <a:xfrm>
            <a:off x="17656465" y="6668709"/>
            <a:ext cx="1078458" cy="1106495"/>
            <a:chOff x="0" y="0"/>
            <a:chExt cx="284038" cy="291422"/>
          </a:xfrm>
        </p:grpSpPr>
        <p:sp>
          <p:nvSpPr>
            <p:cNvPr id="13" name="Freeform 13"/>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4" name="TextBox 14"/>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5" name="AutoShape 15"/>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6" name="AutoShape 16"/>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TextBox 17"/>
          <p:cNvSpPr txBox="1"/>
          <p:nvPr/>
        </p:nvSpPr>
        <p:spPr>
          <a:xfrm>
            <a:off x="1428602" y="6013792"/>
            <a:ext cx="5128907" cy="31058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Inventory &amp; Stock Management</a:t>
            </a:r>
          </a:p>
        </p:txBody>
      </p:sp>
      <p:sp>
        <p:nvSpPr>
          <p:cNvPr id="18" name="TextBox 18"/>
          <p:cNvSpPr txBox="1"/>
          <p:nvPr/>
        </p:nvSpPr>
        <p:spPr>
          <a:xfrm>
            <a:off x="12603284" y="3258232"/>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Stock Validation</a:t>
            </a:r>
          </a:p>
        </p:txBody>
      </p:sp>
      <p:sp>
        <p:nvSpPr>
          <p:cNvPr id="19" name="TextBox 19"/>
          <p:cNvSpPr txBox="1"/>
          <p:nvPr/>
        </p:nvSpPr>
        <p:spPr>
          <a:xfrm>
            <a:off x="12603284" y="3855448"/>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Prevents negative inventory on production start</a:t>
            </a:r>
          </a:p>
        </p:txBody>
      </p:sp>
      <p:sp>
        <p:nvSpPr>
          <p:cNvPr id="20" name="TextBox 20"/>
          <p:cNvSpPr txBox="1"/>
          <p:nvPr/>
        </p:nvSpPr>
        <p:spPr>
          <a:xfrm>
            <a:off x="12603284" y="4906356"/>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Auto Deduction</a:t>
            </a:r>
          </a:p>
        </p:txBody>
      </p:sp>
      <p:sp>
        <p:nvSpPr>
          <p:cNvPr id="21" name="TextBox 21"/>
          <p:cNvSpPr txBox="1"/>
          <p:nvPr/>
        </p:nvSpPr>
        <p:spPr>
          <a:xfrm>
            <a:off x="12603284" y="5503572"/>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Materials deducted automatically when order begins</a:t>
            </a:r>
          </a:p>
        </p:txBody>
      </p:sp>
      <p:sp>
        <p:nvSpPr>
          <p:cNvPr id="22" name="TextBox 22"/>
          <p:cNvSpPr txBox="1"/>
          <p:nvPr/>
        </p:nvSpPr>
        <p:spPr>
          <a:xfrm>
            <a:off x="12603284" y="6554481"/>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Materials Tracked</a:t>
            </a:r>
          </a:p>
        </p:txBody>
      </p:sp>
      <p:sp>
        <p:nvSpPr>
          <p:cNvPr id="23" name="TextBox 23"/>
          <p:cNvSpPr txBox="1"/>
          <p:nvPr/>
        </p:nvSpPr>
        <p:spPr>
          <a:xfrm>
            <a:off x="12603284" y="7151696"/>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Paper, Ink, and Chemicals monitored in real time</a:t>
            </a:r>
          </a:p>
        </p:txBody>
      </p:sp>
      <p:sp>
        <p:nvSpPr>
          <p:cNvPr id="24" name="TextBox 24"/>
          <p:cNvSpPr txBox="1"/>
          <p:nvPr/>
        </p:nvSpPr>
        <p:spPr>
          <a:xfrm>
            <a:off x="90678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Home</a:t>
            </a:r>
          </a:p>
        </p:txBody>
      </p:sp>
      <p:sp>
        <p:nvSpPr>
          <p:cNvPr id="25" name="TextBox 25"/>
          <p:cNvSpPr txBox="1"/>
          <p:nvPr/>
        </p:nvSpPr>
        <p:spPr>
          <a:xfrm>
            <a:off x="121412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About</a:t>
            </a:r>
          </a:p>
        </p:txBody>
      </p:sp>
      <p:sp>
        <p:nvSpPr>
          <p:cNvPr id="26" name="TextBox 26"/>
          <p:cNvSpPr txBox="1"/>
          <p:nvPr/>
        </p:nvSpPr>
        <p:spPr>
          <a:xfrm>
            <a:off x="152146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Product</a:t>
            </a:r>
          </a:p>
        </p:txBody>
      </p:sp>
      <p:sp>
        <p:nvSpPr>
          <p:cNvPr id="27" name="TextBox 27"/>
          <p:cNvSpPr txBox="1"/>
          <p:nvPr/>
        </p:nvSpPr>
        <p:spPr>
          <a:xfrm>
            <a:off x="15367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7683500" y="3671300"/>
            <a:ext cx="4960681" cy="4798235"/>
            <a:chOff x="0" y="0"/>
            <a:chExt cx="768539" cy="743372"/>
          </a:xfrm>
        </p:grpSpPr>
        <p:sp>
          <p:nvSpPr>
            <p:cNvPr id="3" name="Freeform 3"/>
            <p:cNvSpPr/>
            <p:nvPr/>
          </p:nvSpPr>
          <p:spPr>
            <a:xfrm>
              <a:off x="0" y="0"/>
              <a:ext cx="768539" cy="743372"/>
            </a:xfrm>
            <a:custGeom>
              <a:avLst/>
              <a:gdLst/>
              <a:ahLst/>
              <a:cxnLst/>
              <a:rect l="l" t="t" r="r" b="b"/>
              <a:pathLst>
                <a:path w="768539" h="743372">
                  <a:moveTo>
                    <a:pt x="0" y="0"/>
                  </a:moveTo>
                  <a:lnTo>
                    <a:pt x="768539" y="0"/>
                  </a:lnTo>
                  <a:lnTo>
                    <a:pt x="768539" y="743372"/>
                  </a:lnTo>
                  <a:lnTo>
                    <a:pt x="0" y="743372"/>
                  </a:lnTo>
                  <a:close/>
                </a:path>
              </a:pathLst>
            </a:custGeom>
            <a:blipFill>
              <a:blip r:embed="rId2"/>
              <a:stretch>
                <a:fillRect l="-707" r="-707"/>
              </a:stretch>
            </a:blipFill>
          </p:spPr>
          <p:txBody>
            <a:bodyPr/>
            <a:lstStyle/>
            <a:p>
              <a:endParaRPr lang="en-US"/>
            </a:p>
          </p:txBody>
        </p:sp>
      </p:grpSp>
      <p:grpSp>
        <p:nvGrpSpPr>
          <p:cNvPr id="4" name="Group 4"/>
          <p:cNvGrpSpPr/>
          <p:nvPr/>
        </p:nvGrpSpPr>
        <p:grpSpPr>
          <a:xfrm>
            <a:off x="13167311" y="4572538"/>
            <a:ext cx="3736389" cy="3896997"/>
            <a:chOff x="0" y="0"/>
            <a:chExt cx="578864" cy="603747"/>
          </a:xfrm>
        </p:grpSpPr>
        <p:sp>
          <p:nvSpPr>
            <p:cNvPr id="5" name="Freeform 5"/>
            <p:cNvSpPr/>
            <p:nvPr/>
          </p:nvSpPr>
          <p:spPr>
            <a:xfrm>
              <a:off x="0" y="0"/>
              <a:ext cx="578864" cy="603747"/>
            </a:xfrm>
            <a:custGeom>
              <a:avLst/>
              <a:gdLst/>
              <a:ahLst/>
              <a:cxnLst/>
              <a:rect l="l" t="t" r="r" b="b"/>
              <a:pathLst>
                <a:path w="578864" h="603747">
                  <a:moveTo>
                    <a:pt x="0" y="0"/>
                  </a:moveTo>
                  <a:lnTo>
                    <a:pt x="578864" y="0"/>
                  </a:lnTo>
                  <a:lnTo>
                    <a:pt x="578864" y="603747"/>
                  </a:lnTo>
                  <a:lnTo>
                    <a:pt x="0" y="603747"/>
                  </a:lnTo>
                  <a:close/>
                </a:path>
              </a:pathLst>
            </a:custGeom>
            <a:blipFill>
              <a:blip r:embed="rId3"/>
              <a:stretch>
                <a:fillRect t="-264" b="-264"/>
              </a:stretch>
            </a:blipFill>
          </p:spPr>
          <p:txBody>
            <a:bodyPr/>
            <a:lstStyle/>
            <a:p>
              <a:endParaRPr lang="en-US"/>
            </a:p>
          </p:txBody>
        </p:sp>
      </p:grpSp>
      <p:sp>
        <p:nvSpPr>
          <p:cNvPr id="6" name="Freeform 6"/>
          <p:cNvSpPr/>
          <p:nvPr/>
        </p:nvSpPr>
        <p:spPr>
          <a:xfrm>
            <a:off x="10209967" y="-2033260"/>
            <a:ext cx="9651076" cy="10287000"/>
          </a:xfrm>
          <a:custGeom>
            <a:avLst/>
            <a:gdLst/>
            <a:ahLst/>
            <a:cxnLst/>
            <a:rect l="l" t="t" r="r" b="b"/>
            <a:pathLst>
              <a:path w="9651076" h="10287000">
                <a:moveTo>
                  <a:pt x="0" y="0"/>
                </a:moveTo>
                <a:lnTo>
                  <a:pt x="9651077" y="0"/>
                </a:lnTo>
                <a:lnTo>
                  <a:pt x="9651077" y="10287000"/>
                </a:lnTo>
                <a:lnTo>
                  <a:pt x="0" y="10287000"/>
                </a:lnTo>
                <a:lnTo>
                  <a:pt x="0" y="0"/>
                </a:lnTo>
                <a:close/>
              </a:path>
            </a:pathLst>
          </a:custGeom>
          <a:blipFill>
            <a:blip r:embed="rId4">
              <a:alphaModFix amt="17000"/>
            </a:blip>
            <a:stretch>
              <a:fillRect/>
            </a:stretch>
          </a:blipFill>
        </p:spPr>
        <p:txBody>
          <a:bodyPr/>
          <a:lstStyle/>
          <a:p>
            <a:endParaRPr lang="en-US"/>
          </a:p>
        </p:txBody>
      </p:sp>
      <p:sp>
        <p:nvSpPr>
          <p:cNvPr id="7" name="Freeform 7"/>
          <p:cNvSpPr/>
          <p:nvPr/>
        </p:nvSpPr>
        <p:spPr>
          <a:xfrm>
            <a:off x="1687113" y="5437605"/>
            <a:ext cx="764288" cy="899321"/>
          </a:xfrm>
          <a:custGeom>
            <a:avLst/>
            <a:gdLst/>
            <a:ahLst/>
            <a:cxnLst/>
            <a:rect l="l" t="t" r="r" b="b"/>
            <a:pathLst>
              <a:path w="764288" h="899321">
                <a:moveTo>
                  <a:pt x="0" y="0"/>
                </a:moveTo>
                <a:lnTo>
                  <a:pt x="764288" y="0"/>
                </a:lnTo>
                <a:lnTo>
                  <a:pt x="764288" y="899321"/>
                </a:lnTo>
                <a:lnTo>
                  <a:pt x="0" y="899321"/>
                </a:lnTo>
                <a:lnTo>
                  <a:pt x="0" y="0"/>
                </a:lnTo>
                <a:close/>
              </a:path>
            </a:pathLst>
          </a:custGeom>
          <a:blipFill>
            <a:blip r:embed="rId5"/>
            <a:stretch>
              <a:fillRect/>
            </a:stretch>
          </a:blipFill>
        </p:spPr>
        <p:txBody>
          <a:bodyPr/>
          <a:lstStyle/>
          <a:p>
            <a:endParaRPr lang="en-US"/>
          </a:p>
        </p:txBody>
      </p:sp>
      <p:sp>
        <p:nvSpPr>
          <p:cNvPr id="8" name="Freeform 8"/>
          <p:cNvSpPr/>
          <p:nvPr/>
        </p:nvSpPr>
        <p:spPr>
          <a:xfrm>
            <a:off x="1725734" y="7457164"/>
            <a:ext cx="763793" cy="832684"/>
          </a:xfrm>
          <a:custGeom>
            <a:avLst/>
            <a:gdLst/>
            <a:ahLst/>
            <a:cxnLst/>
            <a:rect l="l" t="t" r="r" b="b"/>
            <a:pathLst>
              <a:path w="763793" h="832684">
                <a:moveTo>
                  <a:pt x="0" y="0"/>
                </a:moveTo>
                <a:lnTo>
                  <a:pt x="763793" y="0"/>
                </a:lnTo>
                <a:lnTo>
                  <a:pt x="763793" y="832684"/>
                </a:lnTo>
                <a:lnTo>
                  <a:pt x="0" y="832684"/>
                </a:lnTo>
                <a:lnTo>
                  <a:pt x="0" y="0"/>
                </a:lnTo>
                <a:close/>
              </a:path>
            </a:pathLst>
          </a:custGeom>
          <a:blipFill>
            <a:blip r:embed="rId6"/>
            <a:stretch>
              <a:fillRect/>
            </a:stretch>
          </a:blipFill>
        </p:spPr>
        <p:txBody>
          <a:bodyPr/>
          <a:lstStyle/>
          <a:p>
            <a:endParaRPr lang="en-US"/>
          </a:p>
        </p:txBody>
      </p:sp>
      <p:grpSp>
        <p:nvGrpSpPr>
          <p:cNvPr id="9" name="Group 9"/>
          <p:cNvGrpSpPr/>
          <p:nvPr/>
        </p:nvGrpSpPr>
        <p:grpSpPr>
          <a:xfrm>
            <a:off x="17656465" y="7749231"/>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2" name="Group 12"/>
          <p:cNvGrpSpPr/>
          <p:nvPr/>
        </p:nvGrpSpPr>
        <p:grpSpPr>
          <a:xfrm>
            <a:off x="17656465" y="6668709"/>
            <a:ext cx="1078458" cy="1106495"/>
            <a:chOff x="0" y="0"/>
            <a:chExt cx="284038" cy="291422"/>
          </a:xfrm>
        </p:grpSpPr>
        <p:sp>
          <p:nvSpPr>
            <p:cNvPr id="13" name="Freeform 13"/>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4" name="TextBox 14"/>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5" name="AutoShape 15"/>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6" name="AutoShape 16"/>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TextBox 17"/>
          <p:cNvSpPr txBox="1"/>
          <p:nvPr/>
        </p:nvSpPr>
        <p:spPr>
          <a:xfrm>
            <a:off x="1536700" y="2206871"/>
            <a:ext cx="5054604" cy="21152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Authentication &amp; Security</a:t>
            </a:r>
          </a:p>
        </p:txBody>
      </p:sp>
      <p:sp>
        <p:nvSpPr>
          <p:cNvPr id="18" name="TextBox 18"/>
          <p:cNvSpPr txBox="1"/>
          <p:nvPr/>
        </p:nvSpPr>
        <p:spPr>
          <a:xfrm>
            <a:off x="3073400" y="5093581"/>
            <a:ext cx="3517904"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Authentication Flow</a:t>
            </a:r>
          </a:p>
        </p:txBody>
      </p:sp>
      <p:sp>
        <p:nvSpPr>
          <p:cNvPr id="19" name="TextBox 19"/>
          <p:cNvSpPr txBox="1"/>
          <p:nvPr/>
        </p:nvSpPr>
        <p:spPr>
          <a:xfrm>
            <a:off x="3073400" y="5760843"/>
            <a:ext cx="3517904" cy="837390"/>
          </a:xfrm>
          <a:prstGeom prst="rect">
            <a:avLst/>
          </a:prstGeom>
        </p:spPr>
        <p:txBody>
          <a:bodyPr lIns="0" tIns="0" rIns="0" bIns="0" rtlCol="0" anchor="t">
            <a:spAutoFit/>
          </a:bodyPr>
          <a:lstStyle/>
          <a:p>
            <a:pPr marL="0" lvl="0" indent="0" algn="l">
              <a:lnSpc>
                <a:spcPts val="2144"/>
              </a:lnSpc>
            </a:pPr>
            <a:r>
              <a:rPr lang="en-US" sz="1531">
                <a:solidFill>
                  <a:srgbClr val="122620"/>
                </a:solidFill>
                <a:latin typeface="Agrandir"/>
                <a:ea typeface="Agrandir"/>
                <a:cs typeface="Agrandir"/>
                <a:sym typeface="Agrandir"/>
              </a:rPr>
              <a:t>Login → JWT generated → HttpOnly cookie → Protected API requests → Session restore via /auth/me → Logout.</a:t>
            </a:r>
          </a:p>
        </p:txBody>
      </p:sp>
      <p:sp>
        <p:nvSpPr>
          <p:cNvPr id="20" name="TextBox 20"/>
          <p:cNvSpPr txBox="1"/>
          <p:nvPr/>
        </p:nvSpPr>
        <p:spPr>
          <a:xfrm>
            <a:off x="3073400" y="7094124"/>
            <a:ext cx="3517904"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Security Design</a:t>
            </a:r>
          </a:p>
        </p:txBody>
      </p:sp>
      <p:sp>
        <p:nvSpPr>
          <p:cNvPr id="21" name="TextBox 21"/>
          <p:cNvSpPr txBox="1"/>
          <p:nvPr/>
        </p:nvSpPr>
        <p:spPr>
          <a:xfrm>
            <a:off x="3073400" y="7605299"/>
            <a:ext cx="3517904" cy="837390"/>
          </a:xfrm>
          <a:prstGeom prst="rect">
            <a:avLst/>
          </a:prstGeom>
        </p:spPr>
        <p:txBody>
          <a:bodyPr lIns="0" tIns="0" rIns="0" bIns="0" rtlCol="0" anchor="t">
            <a:spAutoFit/>
          </a:bodyPr>
          <a:lstStyle/>
          <a:p>
            <a:pPr marL="0" lvl="0" indent="0" algn="l">
              <a:lnSpc>
                <a:spcPts val="2144"/>
              </a:lnSpc>
            </a:pPr>
            <a:r>
              <a:rPr lang="en-US" sz="1531">
                <a:solidFill>
                  <a:srgbClr val="122620"/>
                </a:solidFill>
                <a:latin typeface="Agrandir"/>
                <a:ea typeface="Agrandir"/>
                <a:cs typeface="Agrandir"/>
                <a:sym typeface="Agrandir"/>
              </a:rPr>
              <a:t>Stateless JWT for scalability. HttpOnly cookie prevents XSS attacks. Role-based access control enforced.</a:t>
            </a:r>
          </a:p>
        </p:txBody>
      </p:sp>
      <p:sp>
        <p:nvSpPr>
          <p:cNvPr id="22" name="TextBox 22"/>
          <p:cNvSpPr txBox="1"/>
          <p:nvPr/>
        </p:nvSpPr>
        <p:spPr>
          <a:xfrm>
            <a:off x="7846093" y="2556519"/>
            <a:ext cx="1297907" cy="888444"/>
          </a:xfrm>
          <a:prstGeom prst="rect">
            <a:avLst/>
          </a:prstGeom>
        </p:spPr>
        <p:txBody>
          <a:bodyPr lIns="0" tIns="0" rIns="0" bIns="0" rtlCol="0" anchor="t">
            <a:spAutoFit/>
          </a:bodyPr>
          <a:lstStyle/>
          <a:p>
            <a:pPr marL="0" lvl="0" indent="0" algn="ctr">
              <a:lnSpc>
                <a:spcPts val="6155"/>
              </a:lnSpc>
            </a:pPr>
            <a:r>
              <a:rPr lang="en-US" sz="4396">
                <a:solidFill>
                  <a:srgbClr val="122620"/>
                </a:solidFill>
                <a:latin typeface="Agrandir"/>
                <a:ea typeface="Agrandir"/>
                <a:cs typeface="Agrandir"/>
                <a:sym typeface="Agrandir"/>
              </a:rPr>
              <a:t>01</a:t>
            </a:r>
          </a:p>
        </p:txBody>
      </p:sp>
      <p:sp>
        <p:nvSpPr>
          <p:cNvPr id="23" name="TextBox 23"/>
          <p:cNvSpPr txBox="1"/>
          <p:nvPr/>
        </p:nvSpPr>
        <p:spPr>
          <a:xfrm>
            <a:off x="13677900" y="3684172"/>
            <a:ext cx="758657" cy="888444"/>
          </a:xfrm>
          <a:prstGeom prst="rect">
            <a:avLst/>
          </a:prstGeom>
        </p:spPr>
        <p:txBody>
          <a:bodyPr lIns="0" tIns="0" rIns="0" bIns="0" rtlCol="0" anchor="t">
            <a:spAutoFit/>
          </a:bodyPr>
          <a:lstStyle/>
          <a:p>
            <a:pPr marL="0" lvl="0" indent="0" algn="ctr">
              <a:lnSpc>
                <a:spcPts val="6155"/>
              </a:lnSpc>
            </a:pPr>
            <a:r>
              <a:rPr lang="en-US" sz="4396">
                <a:solidFill>
                  <a:srgbClr val="122620"/>
                </a:solidFill>
                <a:latin typeface="Agrandir"/>
                <a:ea typeface="Agrandir"/>
                <a:cs typeface="Agrandir"/>
                <a:sym typeface="Agrandir"/>
              </a:rPr>
              <a:t>02</a:t>
            </a:r>
          </a:p>
        </p:txBody>
      </p:sp>
      <p:sp>
        <p:nvSpPr>
          <p:cNvPr id="24" name="TextBox 24"/>
          <p:cNvSpPr txBox="1"/>
          <p:nvPr/>
        </p:nvSpPr>
        <p:spPr>
          <a:xfrm>
            <a:off x="90678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Home</a:t>
            </a:r>
          </a:p>
        </p:txBody>
      </p:sp>
      <p:sp>
        <p:nvSpPr>
          <p:cNvPr id="25" name="TextBox 25"/>
          <p:cNvSpPr txBox="1"/>
          <p:nvPr/>
        </p:nvSpPr>
        <p:spPr>
          <a:xfrm>
            <a:off x="121412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About</a:t>
            </a:r>
          </a:p>
        </p:txBody>
      </p:sp>
      <p:sp>
        <p:nvSpPr>
          <p:cNvPr id="26" name="TextBox 26"/>
          <p:cNvSpPr txBox="1"/>
          <p:nvPr/>
        </p:nvSpPr>
        <p:spPr>
          <a:xfrm>
            <a:off x="152146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Product</a:t>
            </a:r>
          </a:p>
        </p:txBody>
      </p:sp>
      <p:sp>
        <p:nvSpPr>
          <p:cNvPr id="27" name="TextBox 27"/>
          <p:cNvSpPr txBox="1"/>
          <p:nvPr/>
        </p:nvSpPr>
        <p:spPr>
          <a:xfrm>
            <a:off x="1536700" y="1165616"/>
            <a:ext cx="1536700" cy="303990"/>
          </a:xfrm>
          <a:prstGeom prst="rect">
            <a:avLst/>
          </a:prstGeom>
        </p:spPr>
        <p:txBody>
          <a:bodyPr lIns="0" tIns="0" rIns="0" bIns="0" rtlCol="0" anchor="t">
            <a:spAutoFit/>
          </a:bodyPr>
          <a:lstStyle/>
          <a:p>
            <a:pPr marL="0" lvl="0" indent="0" algn="l">
              <a:lnSpc>
                <a:spcPts val="2144"/>
              </a:lnSpc>
            </a:pPr>
            <a:r>
              <a:rPr lang="en-US" sz="1531">
                <a:solidFill>
                  <a:srgbClr val="122620"/>
                </a:solidFill>
                <a:latin typeface="Agrandir"/>
                <a:ea typeface="Agrandir"/>
                <a:cs typeface="Agrandir"/>
                <a:sym typeface="Agrandir"/>
              </a:rPr>
              <a:t>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7247140" y="2450968"/>
            <a:ext cx="3128496" cy="6112032"/>
            <a:chOff x="0" y="0"/>
            <a:chExt cx="484686" cy="946914"/>
          </a:xfrm>
        </p:grpSpPr>
        <p:sp>
          <p:nvSpPr>
            <p:cNvPr id="3" name="Freeform 3"/>
            <p:cNvSpPr/>
            <p:nvPr/>
          </p:nvSpPr>
          <p:spPr>
            <a:xfrm>
              <a:off x="0" y="0"/>
              <a:ext cx="484686" cy="946914"/>
            </a:xfrm>
            <a:custGeom>
              <a:avLst/>
              <a:gdLst/>
              <a:ahLst/>
              <a:cxnLst/>
              <a:rect l="l" t="t" r="r" b="b"/>
              <a:pathLst>
                <a:path w="484686" h="946914">
                  <a:moveTo>
                    <a:pt x="0" y="0"/>
                  </a:moveTo>
                  <a:lnTo>
                    <a:pt x="484686" y="0"/>
                  </a:lnTo>
                  <a:lnTo>
                    <a:pt x="484686" y="946914"/>
                  </a:lnTo>
                  <a:lnTo>
                    <a:pt x="0" y="946914"/>
                  </a:lnTo>
                  <a:close/>
                </a:path>
              </a:pathLst>
            </a:custGeom>
            <a:blipFill>
              <a:blip r:embed="rId2"/>
              <a:stretch>
                <a:fillRect t="-182" b="-182"/>
              </a:stretch>
            </a:blipFill>
          </p:spPr>
          <p:txBody>
            <a:bodyPr/>
            <a:lstStyle/>
            <a:p>
              <a:endParaRPr lang="en-US"/>
            </a:p>
          </p:txBody>
        </p:sp>
      </p:grpSp>
      <p:grpSp>
        <p:nvGrpSpPr>
          <p:cNvPr id="4" name="Group 4"/>
          <p:cNvGrpSpPr/>
          <p:nvPr/>
        </p:nvGrpSpPr>
        <p:grpSpPr>
          <a:xfrm>
            <a:off x="1384300" y="2446385"/>
            <a:ext cx="5508808" cy="3125497"/>
            <a:chOff x="0" y="0"/>
            <a:chExt cx="853458" cy="484221"/>
          </a:xfrm>
        </p:grpSpPr>
        <p:sp>
          <p:nvSpPr>
            <p:cNvPr id="5" name="Freeform 5"/>
            <p:cNvSpPr/>
            <p:nvPr/>
          </p:nvSpPr>
          <p:spPr>
            <a:xfrm>
              <a:off x="0" y="0"/>
              <a:ext cx="853458" cy="484221"/>
            </a:xfrm>
            <a:custGeom>
              <a:avLst/>
              <a:gdLst/>
              <a:ahLst/>
              <a:cxnLst/>
              <a:rect l="l" t="t" r="r" b="b"/>
              <a:pathLst>
                <a:path w="853458" h="484221">
                  <a:moveTo>
                    <a:pt x="0" y="0"/>
                  </a:moveTo>
                  <a:lnTo>
                    <a:pt x="853458" y="0"/>
                  </a:lnTo>
                  <a:lnTo>
                    <a:pt x="853458" y="484221"/>
                  </a:lnTo>
                  <a:lnTo>
                    <a:pt x="0" y="484221"/>
                  </a:lnTo>
                  <a:close/>
                </a:path>
              </a:pathLst>
            </a:custGeom>
            <a:blipFill>
              <a:blip r:embed="rId3"/>
              <a:stretch>
                <a:fillRect t="-783" b="-783"/>
              </a:stretch>
            </a:blipFill>
          </p:spPr>
          <p:txBody>
            <a:bodyPr/>
            <a:lstStyle/>
            <a:p>
              <a:endParaRPr lang="en-US"/>
            </a:p>
          </p:txBody>
        </p:sp>
      </p:grpSp>
      <p:sp>
        <p:nvSpPr>
          <p:cNvPr id="6" name="Freeform 6"/>
          <p:cNvSpPr/>
          <p:nvPr/>
        </p:nvSpPr>
        <p:spPr>
          <a:xfrm>
            <a:off x="11133777" y="3450061"/>
            <a:ext cx="672467" cy="813751"/>
          </a:xfrm>
          <a:custGeom>
            <a:avLst/>
            <a:gdLst/>
            <a:ahLst/>
            <a:cxnLst/>
            <a:rect l="l" t="t" r="r" b="b"/>
            <a:pathLst>
              <a:path w="672467" h="813751">
                <a:moveTo>
                  <a:pt x="0" y="0"/>
                </a:moveTo>
                <a:lnTo>
                  <a:pt x="672467" y="0"/>
                </a:lnTo>
                <a:lnTo>
                  <a:pt x="672467" y="813751"/>
                </a:lnTo>
                <a:lnTo>
                  <a:pt x="0" y="813751"/>
                </a:lnTo>
                <a:lnTo>
                  <a:pt x="0" y="0"/>
                </a:lnTo>
                <a:close/>
              </a:path>
            </a:pathLst>
          </a:custGeom>
          <a:blipFill>
            <a:blip r:embed="rId4"/>
            <a:stretch>
              <a:fillRect/>
            </a:stretch>
          </a:blipFill>
        </p:spPr>
        <p:txBody>
          <a:bodyPr/>
          <a:lstStyle/>
          <a:p>
            <a:endParaRPr lang="en-US"/>
          </a:p>
        </p:txBody>
      </p:sp>
      <p:sp>
        <p:nvSpPr>
          <p:cNvPr id="7" name="Freeform 7"/>
          <p:cNvSpPr/>
          <p:nvPr/>
        </p:nvSpPr>
        <p:spPr>
          <a:xfrm>
            <a:off x="11243358" y="6886213"/>
            <a:ext cx="652433" cy="779088"/>
          </a:xfrm>
          <a:custGeom>
            <a:avLst/>
            <a:gdLst/>
            <a:ahLst/>
            <a:cxnLst/>
            <a:rect l="l" t="t" r="r" b="b"/>
            <a:pathLst>
              <a:path w="652433" h="779088">
                <a:moveTo>
                  <a:pt x="0" y="0"/>
                </a:moveTo>
                <a:lnTo>
                  <a:pt x="652433" y="0"/>
                </a:lnTo>
                <a:lnTo>
                  <a:pt x="652433" y="779088"/>
                </a:lnTo>
                <a:lnTo>
                  <a:pt x="0" y="779088"/>
                </a:lnTo>
                <a:lnTo>
                  <a:pt x="0" y="0"/>
                </a:lnTo>
                <a:close/>
              </a:path>
            </a:pathLst>
          </a:custGeom>
          <a:blipFill>
            <a:blip r:embed="rId5"/>
            <a:stretch>
              <a:fillRect/>
            </a:stretch>
          </a:blipFill>
        </p:spPr>
        <p:txBody>
          <a:bodyPr/>
          <a:lstStyle/>
          <a:p>
            <a:endParaRPr lang="en-US"/>
          </a:p>
        </p:txBody>
      </p:sp>
      <p:sp>
        <p:nvSpPr>
          <p:cNvPr id="8" name="Freeform 8"/>
          <p:cNvSpPr/>
          <p:nvPr/>
        </p:nvSpPr>
        <p:spPr>
          <a:xfrm>
            <a:off x="11176519" y="5176726"/>
            <a:ext cx="645948" cy="585390"/>
          </a:xfrm>
          <a:custGeom>
            <a:avLst/>
            <a:gdLst/>
            <a:ahLst/>
            <a:cxnLst/>
            <a:rect l="l" t="t" r="r" b="b"/>
            <a:pathLst>
              <a:path w="645948" h="585390">
                <a:moveTo>
                  <a:pt x="0" y="0"/>
                </a:moveTo>
                <a:lnTo>
                  <a:pt x="645948" y="0"/>
                </a:lnTo>
                <a:lnTo>
                  <a:pt x="645948" y="585391"/>
                </a:lnTo>
                <a:lnTo>
                  <a:pt x="0" y="585391"/>
                </a:lnTo>
                <a:lnTo>
                  <a:pt x="0" y="0"/>
                </a:lnTo>
                <a:close/>
              </a:path>
            </a:pathLst>
          </a:custGeom>
          <a:blipFill>
            <a:blip r:embed="rId6"/>
            <a:stretch>
              <a:fillRect/>
            </a:stretch>
          </a:blipFill>
        </p:spPr>
        <p:txBody>
          <a:bodyPr/>
          <a:lstStyle/>
          <a:p>
            <a:endParaRPr lang="en-US"/>
          </a:p>
        </p:txBody>
      </p:sp>
      <p:grpSp>
        <p:nvGrpSpPr>
          <p:cNvPr id="9" name="Group 9"/>
          <p:cNvGrpSpPr/>
          <p:nvPr/>
        </p:nvGrpSpPr>
        <p:grpSpPr>
          <a:xfrm>
            <a:off x="17656465" y="7749231"/>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2" name="Group 12"/>
          <p:cNvGrpSpPr/>
          <p:nvPr/>
        </p:nvGrpSpPr>
        <p:grpSpPr>
          <a:xfrm>
            <a:off x="17656465" y="6668709"/>
            <a:ext cx="1078458" cy="1106495"/>
            <a:chOff x="0" y="0"/>
            <a:chExt cx="284038" cy="291422"/>
          </a:xfrm>
        </p:grpSpPr>
        <p:sp>
          <p:nvSpPr>
            <p:cNvPr id="13" name="Freeform 13"/>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4" name="TextBox 14"/>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5" name="AutoShape 15"/>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6" name="AutoShape 16"/>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TextBox 17"/>
          <p:cNvSpPr txBox="1"/>
          <p:nvPr/>
        </p:nvSpPr>
        <p:spPr>
          <a:xfrm>
            <a:off x="1428602" y="6013792"/>
            <a:ext cx="5128907" cy="31058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Frontend Interaction &amp; Validation</a:t>
            </a:r>
          </a:p>
        </p:txBody>
      </p:sp>
      <p:sp>
        <p:nvSpPr>
          <p:cNvPr id="18" name="TextBox 18"/>
          <p:cNvSpPr txBox="1"/>
          <p:nvPr/>
        </p:nvSpPr>
        <p:spPr>
          <a:xfrm>
            <a:off x="12603284" y="3258232"/>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Validation Flow</a:t>
            </a:r>
          </a:p>
        </p:txBody>
      </p:sp>
      <p:sp>
        <p:nvSpPr>
          <p:cNvPr id="19" name="TextBox 19"/>
          <p:cNvSpPr txBox="1"/>
          <p:nvPr/>
        </p:nvSpPr>
        <p:spPr>
          <a:xfrm>
            <a:off x="12603284" y="3855448"/>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User action → React UI → Zod validation → Axios API call → Backend response</a:t>
            </a:r>
          </a:p>
        </p:txBody>
      </p:sp>
      <p:sp>
        <p:nvSpPr>
          <p:cNvPr id="20" name="TextBox 20"/>
          <p:cNvSpPr txBox="1"/>
          <p:nvPr/>
        </p:nvSpPr>
        <p:spPr>
          <a:xfrm>
            <a:off x="12603284" y="4906356"/>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Error Handling</a:t>
            </a:r>
          </a:p>
        </p:txBody>
      </p:sp>
      <p:sp>
        <p:nvSpPr>
          <p:cNvPr id="21" name="TextBox 21"/>
          <p:cNvSpPr txBox="1"/>
          <p:nvPr/>
        </p:nvSpPr>
        <p:spPr>
          <a:xfrm>
            <a:off x="12603284" y="5503572"/>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Arabic error messages with user-friendly toast notifications</a:t>
            </a:r>
          </a:p>
        </p:txBody>
      </p:sp>
      <p:sp>
        <p:nvSpPr>
          <p:cNvPr id="22" name="TextBox 22"/>
          <p:cNvSpPr txBox="1"/>
          <p:nvPr/>
        </p:nvSpPr>
        <p:spPr>
          <a:xfrm>
            <a:off x="12603284" y="6554481"/>
            <a:ext cx="3880208"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Dual Validation</a:t>
            </a:r>
          </a:p>
        </p:txBody>
      </p:sp>
      <p:sp>
        <p:nvSpPr>
          <p:cNvPr id="23" name="TextBox 23"/>
          <p:cNvSpPr txBox="1"/>
          <p:nvPr/>
        </p:nvSpPr>
        <p:spPr>
          <a:xfrm>
            <a:off x="12603284" y="7151696"/>
            <a:ext cx="3880208" cy="597564"/>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Frontend validation for UX, backend validation for security and data integrity</a:t>
            </a:r>
          </a:p>
        </p:txBody>
      </p:sp>
      <p:sp>
        <p:nvSpPr>
          <p:cNvPr id="24" name="TextBox 24"/>
          <p:cNvSpPr txBox="1"/>
          <p:nvPr/>
        </p:nvSpPr>
        <p:spPr>
          <a:xfrm>
            <a:off x="90678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Home</a:t>
            </a:r>
          </a:p>
        </p:txBody>
      </p:sp>
      <p:sp>
        <p:nvSpPr>
          <p:cNvPr id="25" name="TextBox 25"/>
          <p:cNvSpPr txBox="1"/>
          <p:nvPr/>
        </p:nvSpPr>
        <p:spPr>
          <a:xfrm>
            <a:off x="121412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About</a:t>
            </a:r>
          </a:p>
        </p:txBody>
      </p:sp>
      <p:sp>
        <p:nvSpPr>
          <p:cNvPr id="26" name="TextBox 26"/>
          <p:cNvSpPr txBox="1"/>
          <p:nvPr/>
        </p:nvSpPr>
        <p:spPr>
          <a:xfrm>
            <a:off x="152146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Product</a:t>
            </a:r>
          </a:p>
        </p:txBody>
      </p:sp>
      <p:sp>
        <p:nvSpPr>
          <p:cNvPr id="27" name="TextBox 27"/>
          <p:cNvSpPr txBox="1"/>
          <p:nvPr/>
        </p:nvSpPr>
        <p:spPr>
          <a:xfrm>
            <a:off x="1536700" y="1156091"/>
            <a:ext cx="1536700" cy="321339"/>
          </a:xfrm>
          <a:prstGeom prst="rect">
            <a:avLst/>
          </a:prstGeom>
        </p:spPr>
        <p:txBody>
          <a:bodyPr lIns="0" tIns="0" rIns="0" bIns="0" rtlCol="0" anchor="t">
            <a:spAutoFit/>
          </a:bodyPr>
          <a:lstStyle/>
          <a:p>
            <a:pPr marL="0" lvl="0" indent="0" algn="l">
              <a:lnSpc>
                <a:spcPts val="2238"/>
              </a:lnSpc>
            </a:pPr>
            <a:r>
              <a:rPr lang="en-US" sz="1598">
                <a:solidFill>
                  <a:srgbClr val="122620"/>
                </a:solidFill>
                <a:latin typeface="Agrandir"/>
                <a:ea typeface="Agrandir"/>
                <a:cs typeface="Agrandir"/>
                <a:sym typeface="Agrandir"/>
              </a:rPr>
              <a:t>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7663180" y="2176154"/>
            <a:ext cx="9240520" cy="4092553"/>
            <a:chOff x="0" y="0"/>
            <a:chExt cx="1431598" cy="634044"/>
          </a:xfrm>
        </p:grpSpPr>
        <p:sp>
          <p:nvSpPr>
            <p:cNvPr id="3" name="Freeform 3"/>
            <p:cNvSpPr/>
            <p:nvPr/>
          </p:nvSpPr>
          <p:spPr>
            <a:xfrm>
              <a:off x="0" y="0"/>
              <a:ext cx="1431598" cy="634044"/>
            </a:xfrm>
            <a:custGeom>
              <a:avLst/>
              <a:gdLst/>
              <a:ahLst/>
              <a:cxnLst/>
              <a:rect l="l" t="t" r="r" b="b"/>
              <a:pathLst>
                <a:path w="1431598" h="634044">
                  <a:moveTo>
                    <a:pt x="0" y="0"/>
                  </a:moveTo>
                  <a:lnTo>
                    <a:pt x="1431598" y="0"/>
                  </a:lnTo>
                  <a:lnTo>
                    <a:pt x="1431598" y="634044"/>
                  </a:lnTo>
                  <a:lnTo>
                    <a:pt x="0" y="634044"/>
                  </a:lnTo>
                  <a:close/>
                </a:path>
              </a:pathLst>
            </a:custGeom>
            <a:blipFill>
              <a:blip r:embed="rId2"/>
              <a:stretch>
                <a:fillRect t="-18" b="-18"/>
              </a:stretch>
            </a:blipFill>
          </p:spPr>
          <p:txBody>
            <a:bodyPr/>
            <a:lstStyle/>
            <a:p>
              <a:endParaRPr lang="en-US"/>
            </a:p>
          </p:txBody>
        </p:sp>
      </p:grpSp>
      <p:sp>
        <p:nvSpPr>
          <p:cNvPr id="4" name="Freeform 4"/>
          <p:cNvSpPr/>
          <p:nvPr/>
        </p:nvSpPr>
        <p:spPr>
          <a:xfrm>
            <a:off x="-185513" y="2176154"/>
            <a:ext cx="7120859" cy="2116667"/>
          </a:xfrm>
          <a:custGeom>
            <a:avLst/>
            <a:gdLst/>
            <a:ahLst/>
            <a:cxnLst/>
            <a:rect l="l" t="t" r="r" b="b"/>
            <a:pathLst>
              <a:path w="7120859" h="2116667">
                <a:moveTo>
                  <a:pt x="0" y="0"/>
                </a:moveTo>
                <a:lnTo>
                  <a:pt x="7120859" y="0"/>
                </a:lnTo>
                <a:lnTo>
                  <a:pt x="7120859" y="2116666"/>
                </a:lnTo>
                <a:lnTo>
                  <a:pt x="0" y="2116666"/>
                </a:lnTo>
                <a:lnTo>
                  <a:pt x="0" y="0"/>
                </a:lnTo>
                <a:close/>
              </a:path>
            </a:pathLst>
          </a:custGeom>
          <a:blipFill>
            <a:blip r:embed="rId3"/>
            <a:stretch>
              <a:fillRect l="-168" r="-168"/>
            </a:stretch>
          </a:blipFill>
        </p:spPr>
        <p:txBody>
          <a:bodyPr/>
          <a:lstStyle/>
          <a:p>
            <a:endParaRPr lang="en-US"/>
          </a:p>
        </p:txBody>
      </p:sp>
      <p:sp>
        <p:nvSpPr>
          <p:cNvPr id="5" name="TextBox 5"/>
          <p:cNvSpPr txBox="1"/>
          <p:nvPr/>
        </p:nvSpPr>
        <p:spPr>
          <a:xfrm>
            <a:off x="11715134" y="6547243"/>
            <a:ext cx="5188566" cy="2115285"/>
          </a:xfrm>
          <a:prstGeom prst="rect">
            <a:avLst/>
          </a:prstGeom>
        </p:spPr>
        <p:txBody>
          <a:bodyPr lIns="0" tIns="0" rIns="0" bIns="0" rtlCol="0" anchor="t">
            <a:spAutoFit/>
          </a:bodyPr>
          <a:lstStyle/>
          <a:p>
            <a:pPr marL="0" lvl="0" indent="0" algn="r">
              <a:lnSpc>
                <a:spcPts val="7834"/>
              </a:lnSpc>
            </a:pPr>
            <a:r>
              <a:rPr lang="en-US" sz="5596">
                <a:solidFill>
                  <a:srgbClr val="122620"/>
                </a:solidFill>
                <a:latin typeface="Agrandir"/>
                <a:ea typeface="Agrandir"/>
                <a:cs typeface="Agrandir"/>
                <a:sym typeface="Agrandir"/>
              </a:rPr>
              <a:t>Challenges</a:t>
            </a:r>
          </a:p>
          <a:p>
            <a:pPr marL="0" lvl="0" indent="0" algn="r">
              <a:lnSpc>
                <a:spcPts val="7834"/>
              </a:lnSpc>
            </a:pPr>
            <a:r>
              <a:rPr lang="en-US" sz="5596">
                <a:solidFill>
                  <a:srgbClr val="122620"/>
                </a:solidFill>
                <a:latin typeface="Agrandir"/>
                <a:ea typeface="Agrandir"/>
                <a:cs typeface="Agrandir"/>
                <a:sym typeface="Agrandir"/>
              </a:rPr>
              <a:t>&amp; Value</a:t>
            </a:r>
          </a:p>
        </p:txBody>
      </p:sp>
      <p:grpSp>
        <p:nvGrpSpPr>
          <p:cNvPr id="6" name="Group 6"/>
          <p:cNvGrpSpPr/>
          <p:nvPr/>
        </p:nvGrpSpPr>
        <p:grpSpPr>
          <a:xfrm>
            <a:off x="17656465" y="7749231"/>
            <a:ext cx="1078458" cy="1106495"/>
            <a:chOff x="0" y="0"/>
            <a:chExt cx="284038" cy="291422"/>
          </a:xfrm>
        </p:grpSpPr>
        <p:sp>
          <p:nvSpPr>
            <p:cNvPr id="7" name="Freeform 7"/>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8" name="TextBox 8"/>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9" name="Group 9"/>
          <p:cNvGrpSpPr/>
          <p:nvPr/>
        </p:nvGrpSpPr>
        <p:grpSpPr>
          <a:xfrm>
            <a:off x="17656465" y="6668709"/>
            <a:ext cx="1078458" cy="1106495"/>
            <a:chOff x="0" y="0"/>
            <a:chExt cx="284038" cy="291422"/>
          </a:xfrm>
        </p:grpSpPr>
        <p:sp>
          <p:nvSpPr>
            <p:cNvPr id="10" name="Freeform 10"/>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1" name="TextBox 11"/>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2" name="AutoShape 12"/>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4" name="TextBox 14"/>
          <p:cNvSpPr txBox="1"/>
          <p:nvPr/>
        </p:nvSpPr>
        <p:spPr>
          <a:xfrm>
            <a:off x="2793430" y="5287515"/>
            <a:ext cx="4116985" cy="1846659"/>
          </a:xfrm>
          <a:prstGeom prst="rect">
            <a:avLst/>
          </a:prstGeom>
        </p:spPr>
        <p:txBody>
          <a:bodyPr lIns="0" tIns="0" rIns="0" bIns="0" rtlCol="0" anchor="t">
            <a:spAutoFit/>
          </a:bodyPr>
          <a:lstStyle/>
          <a:p>
            <a:pPr marL="0" lvl="0" indent="0" algn="l"/>
            <a:r>
              <a:rPr lang="en-US" sz="2000" dirty="0">
                <a:solidFill>
                  <a:srgbClr val="122620"/>
                </a:solidFill>
                <a:latin typeface="Agrandir"/>
                <a:ea typeface="Agrandir"/>
                <a:cs typeface="Agrandir"/>
                <a:sym typeface="Agrandir"/>
              </a:rPr>
              <a:t>Hibernate many-to-many mappings, </a:t>
            </a:r>
            <a:r>
              <a:rPr lang="en-US" sz="2000" dirty="0" err="1">
                <a:solidFill>
                  <a:srgbClr val="122620"/>
                </a:solidFill>
                <a:latin typeface="Agrandir"/>
                <a:ea typeface="Agrandir"/>
                <a:cs typeface="Agrandir"/>
                <a:sym typeface="Agrandir"/>
              </a:rPr>
              <a:t>MapStruct</a:t>
            </a:r>
            <a:r>
              <a:rPr lang="en-US" sz="2000" dirty="0">
                <a:solidFill>
                  <a:srgbClr val="122620"/>
                </a:solidFill>
                <a:latin typeface="Agrandir"/>
                <a:ea typeface="Agrandir"/>
                <a:cs typeface="Agrandir"/>
                <a:sym typeface="Agrandir"/>
              </a:rPr>
              <a:t> DTO complexity, Oracle data types, JWT &amp; </a:t>
            </a:r>
            <a:r>
              <a:rPr lang="en-US" sz="2000" dirty="0" err="1">
                <a:solidFill>
                  <a:srgbClr val="122620"/>
                </a:solidFill>
                <a:latin typeface="Agrandir"/>
                <a:ea typeface="Agrandir"/>
                <a:cs typeface="Agrandir"/>
                <a:sym typeface="Agrandir"/>
              </a:rPr>
              <a:t>HttpOnly</a:t>
            </a:r>
            <a:r>
              <a:rPr lang="en-US" sz="2000" dirty="0">
                <a:solidFill>
                  <a:srgbClr val="122620"/>
                </a:solidFill>
                <a:latin typeface="Agrandir"/>
                <a:ea typeface="Agrandir"/>
                <a:cs typeface="Agrandir"/>
                <a:sym typeface="Agrandir"/>
              </a:rPr>
              <a:t> cookies, CORS integration, optimization algorithm</a:t>
            </a:r>
          </a:p>
        </p:txBody>
      </p:sp>
      <p:sp>
        <p:nvSpPr>
          <p:cNvPr id="15" name="TextBox 15"/>
          <p:cNvSpPr txBox="1"/>
          <p:nvPr/>
        </p:nvSpPr>
        <p:spPr>
          <a:xfrm>
            <a:off x="2818361" y="4851083"/>
            <a:ext cx="4116985"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Technical Challenges</a:t>
            </a:r>
          </a:p>
        </p:txBody>
      </p:sp>
      <p:sp>
        <p:nvSpPr>
          <p:cNvPr id="16" name="TextBox 16"/>
          <p:cNvSpPr txBox="1"/>
          <p:nvPr/>
        </p:nvSpPr>
        <p:spPr>
          <a:xfrm>
            <a:off x="2818361" y="8005108"/>
            <a:ext cx="4116985" cy="2215991"/>
          </a:xfrm>
          <a:prstGeom prst="rect">
            <a:avLst/>
          </a:prstGeom>
        </p:spPr>
        <p:txBody>
          <a:bodyPr lIns="0" tIns="0" rIns="0" bIns="0" rtlCol="0" anchor="t">
            <a:spAutoFit/>
          </a:bodyPr>
          <a:lstStyle/>
          <a:p>
            <a:pPr marL="0" lvl="0" indent="0" algn="l"/>
            <a:r>
              <a:rPr lang="en-US" sz="2400" dirty="0">
                <a:solidFill>
                  <a:srgbClr val="122620"/>
                </a:solidFill>
                <a:latin typeface="Agrandir"/>
                <a:ea typeface="Agrandir"/>
                <a:cs typeface="Agrandir"/>
                <a:sym typeface="Agrandir"/>
              </a:rPr>
              <a:t>Reduced errors, improved inventory accuracy, less paper waste, faster production planning, centralized data &amp; access control</a:t>
            </a:r>
          </a:p>
        </p:txBody>
      </p:sp>
      <p:sp>
        <p:nvSpPr>
          <p:cNvPr id="17" name="TextBox 17"/>
          <p:cNvSpPr txBox="1"/>
          <p:nvPr/>
        </p:nvSpPr>
        <p:spPr>
          <a:xfrm>
            <a:off x="2818361" y="7526888"/>
            <a:ext cx="4116985" cy="422948"/>
          </a:xfrm>
          <a:prstGeom prst="rect">
            <a:avLst/>
          </a:prstGeom>
        </p:spPr>
        <p:txBody>
          <a:bodyPr lIns="0" tIns="0" rIns="0" bIns="0" rtlCol="0" anchor="t">
            <a:spAutoFit/>
          </a:bodyPr>
          <a:lstStyle/>
          <a:p>
            <a:pPr marL="0" lvl="0" indent="0" algn="l">
              <a:lnSpc>
                <a:spcPts val="2937"/>
              </a:lnSpc>
            </a:pPr>
            <a:r>
              <a:rPr lang="en-US" sz="2098" b="1">
                <a:solidFill>
                  <a:srgbClr val="122620"/>
                </a:solidFill>
                <a:latin typeface="Agrandir Bold"/>
                <a:ea typeface="Agrandir Bold"/>
                <a:cs typeface="Agrandir Bold"/>
                <a:sym typeface="Agrandir Bold"/>
              </a:rPr>
              <a:t>Business Value</a:t>
            </a:r>
          </a:p>
        </p:txBody>
      </p:sp>
      <p:sp>
        <p:nvSpPr>
          <p:cNvPr id="18" name="TextBox 18"/>
          <p:cNvSpPr txBox="1"/>
          <p:nvPr/>
        </p:nvSpPr>
        <p:spPr>
          <a:xfrm>
            <a:off x="90678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Home</a:t>
            </a:r>
          </a:p>
        </p:txBody>
      </p:sp>
      <p:sp>
        <p:nvSpPr>
          <p:cNvPr id="19" name="TextBox 19"/>
          <p:cNvSpPr txBox="1"/>
          <p:nvPr/>
        </p:nvSpPr>
        <p:spPr>
          <a:xfrm>
            <a:off x="121412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About</a:t>
            </a:r>
          </a:p>
        </p:txBody>
      </p:sp>
      <p:sp>
        <p:nvSpPr>
          <p:cNvPr id="20" name="TextBox 20"/>
          <p:cNvSpPr txBox="1"/>
          <p:nvPr/>
        </p:nvSpPr>
        <p:spPr>
          <a:xfrm>
            <a:off x="152146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Product</a:t>
            </a:r>
          </a:p>
        </p:txBody>
      </p:sp>
      <p:sp>
        <p:nvSpPr>
          <p:cNvPr id="21" name="TextBox 21"/>
          <p:cNvSpPr txBox="1"/>
          <p:nvPr/>
        </p:nvSpPr>
        <p:spPr>
          <a:xfrm>
            <a:off x="15367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11</a:t>
            </a:r>
          </a:p>
        </p:txBody>
      </p:sp>
      <p:sp>
        <p:nvSpPr>
          <p:cNvPr id="22" name="TextBox 22"/>
          <p:cNvSpPr txBox="1"/>
          <p:nvPr/>
        </p:nvSpPr>
        <p:spPr>
          <a:xfrm>
            <a:off x="1494025" y="4765040"/>
            <a:ext cx="1104054" cy="727774"/>
          </a:xfrm>
          <a:prstGeom prst="rect">
            <a:avLst/>
          </a:prstGeom>
        </p:spPr>
        <p:txBody>
          <a:bodyPr lIns="0" tIns="0" rIns="0" bIns="0" rtlCol="0" anchor="t">
            <a:spAutoFit/>
          </a:bodyPr>
          <a:lstStyle/>
          <a:p>
            <a:pPr marL="0" lvl="0" indent="0" algn="l">
              <a:lnSpc>
                <a:spcPts val="5036"/>
              </a:lnSpc>
            </a:pPr>
            <a:r>
              <a:rPr lang="en-US" sz="3597">
                <a:solidFill>
                  <a:srgbClr val="122620"/>
                </a:solidFill>
                <a:latin typeface="Agrandir"/>
                <a:ea typeface="Agrandir"/>
                <a:cs typeface="Agrandir"/>
                <a:sym typeface="Agrandir"/>
              </a:rPr>
              <a:t>01</a:t>
            </a:r>
          </a:p>
        </p:txBody>
      </p:sp>
      <p:sp>
        <p:nvSpPr>
          <p:cNvPr id="23" name="TextBox 23"/>
          <p:cNvSpPr txBox="1"/>
          <p:nvPr/>
        </p:nvSpPr>
        <p:spPr>
          <a:xfrm>
            <a:off x="1494025" y="7440846"/>
            <a:ext cx="1104054" cy="727774"/>
          </a:xfrm>
          <a:prstGeom prst="rect">
            <a:avLst/>
          </a:prstGeom>
        </p:spPr>
        <p:txBody>
          <a:bodyPr lIns="0" tIns="0" rIns="0" bIns="0" rtlCol="0" anchor="t">
            <a:spAutoFit/>
          </a:bodyPr>
          <a:lstStyle/>
          <a:p>
            <a:pPr marL="0" lvl="0" indent="0" algn="l">
              <a:lnSpc>
                <a:spcPts val="5036"/>
              </a:lnSpc>
            </a:pPr>
            <a:r>
              <a:rPr lang="en-US" sz="3597" dirty="0">
                <a:solidFill>
                  <a:srgbClr val="122620"/>
                </a:solidFill>
                <a:latin typeface="Agrandir"/>
                <a:ea typeface="Agrandir"/>
                <a:cs typeface="Agrandir"/>
                <a:sym typeface="Agrandir"/>
              </a:rPr>
              <a:t>02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46150" y="2080479"/>
            <a:ext cx="9651076" cy="10287000"/>
          </a:xfrm>
          <a:custGeom>
            <a:avLst/>
            <a:gdLst/>
            <a:ahLst/>
            <a:cxnLst/>
            <a:rect l="l" t="t" r="r" b="b"/>
            <a:pathLst>
              <a:path w="9651076" h="10287000">
                <a:moveTo>
                  <a:pt x="0" y="0"/>
                </a:moveTo>
                <a:lnTo>
                  <a:pt x="9651076" y="0"/>
                </a:lnTo>
                <a:lnTo>
                  <a:pt x="9651076" y="10287000"/>
                </a:lnTo>
                <a:lnTo>
                  <a:pt x="0" y="10287000"/>
                </a:lnTo>
                <a:lnTo>
                  <a:pt x="0" y="0"/>
                </a:lnTo>
                <a:close/>
              </a:path>
            </a:pathLst>
          </a:custGeom>
          <a:blipFill>
            <a:blip r:embed="rId2">
              <a:alphaModFix amt="17000"/>
            </a:blip>
            <a:stretch>
              <a:fillRect/>
            </a:stretch>
          </a:blipFill>
        </p:spPr>
        <p:txBody>
          <a:bodyPr/>
          <a:lstStyle/>
          <a:p>
            <a:endParaRPr lang="en-US"/>
          </a:p>
        </p:txBody>
      </p:sp>
      <p:grpSp>
        <p:nvGrpSpPr>
          <p:cNvPr id="3" name="Group 3"/>
          <p:cNvGrpSpPr/>
          <p:nvPr/>
        </p:nvGrpSpPr>
        <p:grpSpPr>
          <a:xfrm>
            <a:off x="9746150" y="2126297"/>
            <a:ext cx="3163400" cy="5097681"/>
            <a:chOff x="0" y="0"/>
            <a:chExt cx="490094" cy="789764"/>
          </a:xfrm>
        </p:grpSpPr>
        <p:sp>
          <p:nvSpPr>
            <p:cNvPr id="4" name="Freeform 4"/>
            <p:cNvSpPr/>
            <p:nvPr/>
          </p:nvSpPr>
          <p:spPr>
            <a:xfrm>
              <a:off x="0" y="0"/>
              <a:ext cx="490094" cy="789764"/>
            </a:xfrm>
            <a:custGeom>
              <a:avLst/>
              <a:gdLst/>
              <a:ahLst/>
              <a:cxnLst/>
              <a:rect l="l" t="t" r="r" b="b"/>
              <a:pathLst>
                <a:path w="490094" h="789764">
                  <a:moveTo>
                    <a:pt x="0" y="0"/>
                  </a:moveTo>
                  <a:lnTo>
                    <a:pt x="490094" y="0"/>
                  </a:lnTo>
                  <a:lnTo>
                    <a:pt x="490094" y="789764"/>
                  </a:lnTo>
                  <a:lnTo>
                    <a:pt x="0" y="789764"/>
                  </a:lnTo>
                  <a:close/>
                </a:path>
              </a:pathLst>
            </a:custGeom>
            <a:blipFill>
              <a:blip r:embed="rId3"/>
              <a:stretch>
                <a:fillRect l="-55" r="-55"/>
              </a:stretch>
            </a:blipFill>
          </p:spPr>
          <p:txBody>
            <a:bodyPr/>
            <a:lstStyle/>
            <a:p>
              <a:endParaRPr lang="en-US"/>
            </a:p>
          </p:txBody>
        </p:sp>
      </p:grpSp>
      <p:grpSp>
        <p:nvGrpSpPr>
          <p:cNvPr id="5" name="Group 5"/>
          <p:cNvGrpSpPr/>
          <p:nvPr/>
        </p:nvGrpSpPr>
        <p:grpSpPr>
          <a:xfrm>
            <a:off x="13278361" y="2126297"/>
            <a:ext cx="3472939" cy="6028856"/>
            <a:chOff x="0" y="0"/>
            <a:chExt cx="538049" cy="934027"/>
          </a:xfrm>
        </p:grpSpPr>
        <p:sp>
          <p:nvSpPr>
            <p:cNvPr id="6" name="Freeform 6"/>
            <p:cNvSpPr/>
            <p:nvPr/>
          </p:nvSpPr>
          <p:spPr>
            <a:xfrm>
              <a:off x="0" y="0"/>
              <a:ext cx="538049" cy="934027"/>
            </a:xfrm>
            <a:custGeom>
              <a:avLst/>
              <a:gdLst/>
              <a:ahLst/>
              <a:cxnLst/>
              <a:rect l="l" t="t" r="r" b="b"/>
              <a:pathLst>
                <a:path w="538049" h="934027">
                  <a:moveTo>
                    <a:pt x="0" y="0"/>
                  </a:moveTo>
                  <a:lnTo>
                    <a:pt x="538049" y="0"/>
                  </a:lnTo>
                  <a:lnTo>
                    <a:pt x="538049" y="934027"/>
                  </a:lnTo>
                  <a:lnTo>
                    <a:pt x="0" y="934027"/>
                  </a:lnTo>
                  <a:close/>
                </a:path>
              </a:pathLst>
            </a:custGeom>
            <a:blipFill>
              <a:blip r:embed="rId4"/>
              <a:stretch>
                <a:fillRect l="-17" r="-17"/>
              </a:stretch>
            </a:blipFill>
          </p:spPr>
          <p:txBody>
            <a:bodyPr/>
            <a:lstStyle/>
            <a:p>
              <a:endParaRPr lang="en-US"/>
            </a:p>
          </p:txBody>
        </p:sp>
      </p:grpSp>
      <p:grpSp>
        <p:nvGrpSpPr>
          <p:cNvPr id="7" name="Group 7"/>
          <p:cNvGrpSpPr/>
          <p:nvPr/>
        </p:nvGrpSpPr>
        <p:grpSpPr>
          <a:xfrm>
            <a:off x="17656465" y="7749231"/>
            <a:ext cx="1078458" cy="1106495"/>
            <a:chOff x="0" y="0"/>
            <a:chExt cx="284038" cy="291422"/>
          </a:xfrm>
        </p:grpSpPr>
        <p:sp>
          <p:nvSpPr>
            <p:cNvPr id="8" name="Freeform 8"/>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000000"/>
            </a:solidFill>
          </p:spPr>
          <p:txBody>
            <a:bodyPr/>
            <a:lstStyle/>
            <a:p>
              <a:endParaRPr lang="en-US"/>
            </a:p>
          </p:txBody>
        </p:sp>
        <p:sp>
          <p:nvSpPr>
            <p:cNvPr id="9" name="TextBox 9"/>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grpSp>
        <p:nvGrpSpPr>
          <p:cNvPr id="10" name="Group 10"/>
          <p:cNvGrpSpPr/>
          <p:nvPr/>
        </p:nvGrpSpPr>
        <p:grpSpPr>
          <a:xfrm>
            <a:off x="17656465" y="6668709"/>
            <a:ext cx="1078458" cy="1106495"/>
            <a:chOff x="0" y="0"/>
            <a:chExt cx="284038" cy="291422"/>
          </a:xfrm>
        </p:grpSpPr>
        <p:sp>
          <p:nvSpPr>
            <p:cNvPr id="11" name="Freeform 11"/>
            <p:cNvSpPr/>
            <p:nvPr/>
          </p:nvSpPr>
          <p:spPr>
            <a:xfrm>
              <a:off x="0" y="0"/>
              <a:ext cx="284038" cy="291422"/>
            </a:xfrm>
            <a:custGeom>
              <a:avLst/>
              <a:gdLst/>
              <a:ahLst/>
              <a:cxnLst/>
              <a:rect l="l" t="t" r="r" b="b"/>
              <a:pathLst>
                <a:path w="284038" h="291422">
                  <a:moveTo>
                    <a:pt x="0" y="0"/>
                  </a:moveTo>
                  <a:lnTo>
                    <a:pt x="284038" y="0"/>
                  </a:lnTo>
                  <a:lnTo>
                    <a:pt x="284038" y="291422"/>
                  </a:lnTo>
                  <a:lnTo>
                    <a:pt x="0" y="291422"/>
                  </a:lnTo>
                  <a:close/>
                </a:path>
              </a:pathLst>
            </a:custGeom>
            <a:solidFill>
              <a:srgbClr val="A2A5A2"/>
            </a:solidFill>
          </p:spPr>
          <p:txBody>
            <a:bodyPr/>
            <a:lstStyle/>
            <a:p>
              <a:endParaRPr lang="en-US"/>
            </a:p>
          </p:txBody>
        </p:sp>
        <p:sp>
          <p:nvSpPr>
            <p:cNvPr id="12" name="TextBox 12"/>
            <p:cNvSpPr txBox="1"/>
            <p:nvPr/>
          </p:nvSpPr>
          <p:spPr>
            <a:xfrm>
              <a:off x="0" y="-85725"/>
              <a:ext cx="284038" cy="377147"/>
            </a:xfrm>
            <a:prstGeom prst="rect">
              <a:avLst/>
            </a:prstGeom>
          </p:spPr>
          <p:txBody>
            <a:bodyPr lIns="50800" tIns="50800" rIns="50800" bIns="50800" rtlCol="0" anchor="ctr"/>
            <a:lstStyle/>
            <a:p>
              <a:pPr marL="0" lvl="0" indent="0" algn="ctr">
                <a:lnSpc>
                  <a:spcPts val="2239"/>
                </a:lnSpc>
              </a:pPr>
              <a:endParaRPr/>
            </a:p>
          </p:txBody>
        </p:sp>
      </p:grpSp>
      <p:sp>
        <p:nvSpPr>
          <p:cNvPr id="13" name="AutoShape 13"/>
          <p:cNvSpPr/>
          <p:nvPr/>
        </p:nvSpPr>
        <p:spPr>
          <a:xfrm>
            <a:off x="1397430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4" name="AutoShape 14"/>
          <p:cNvSpPr/>
          <p:nvPr/>
        </p:nvSpPr>
        <p:spPr>
          <a:xfrm>
            <a:off x="10902950" y="1121149"/>
            <a:ext cx="4762" cy="448701"/>
          </a:xfrm>
          <a:prstGeom prst="line">
            <a:avLst/>
          </a:prstGeom>
          <a:ln w="9525" cap="flat">
            <a:solidFill>
              <a:srgbClr val="000000"/>
            </a:solidFill>
            <a:prstDash val="solid"/>
            <a:headEnd type="none" w="sm" len="sm"/>
            <a:tailEnd type="none" w="sm" len="sm"/>
          </a:ln>
        </p:spPr>
        <p:txBody>
          <a:bodyPr/>
          <a:lstStyle/>
          <a:p>
            <a:endParaRPr lang="en-US"/>
          </a:p>
        </p:txBody>
      </p:sp>
      <p:sp>
        <p:nvSpPr>
          <p:cNvPr id="15" name="AutoShape 15"/>
          <p:cNvSpPr/>
          <p:nvPr/>
        </p:nvSpPr>
        <p:spPr>
          <a:xfrm flipH="1">
            <a:off x="1769652" y="6964622"/>
            <a:ext cx="874039" cy="0"/>
          </a:xfrm>
          <a:prstGeom prst="line">
            <a:avLst/>
          </a:prstGeom>
          <a:ln w="9525" cap="flat">
            <a:solidFill>
              <a:srgbClr val="000000"/>
            </a:solidFill>
            <a:prstDash val="solid"/>
            <a:headEnd type="none" w="sm" len="sm"/>
            <a:tailEnd type="none" w="sm" len="sm"/>
          </a:ln>
        </p:spPr>
        <p:txBody>
          <a:bodyPr/>
          <a:lstStyle/>
          <a:p>
            <a:endParaRPr lang="en-US"/>
          </a:p>
        </p:txBody>
      </p:sp>
      <p:sp>
        <p:nvSpPr>
          <p:cNvPr id="16" name="AutoShape 16"/>
          <p:cNvSpPr/>
          <p:nvPr/>
        </p:nvSpPr>
        <p:spPr>
          <a:xfrm flipH="1">
            <a:off x="1769652" y="8392008"/>
            <a:ext cx="874039" cy="0"/>
          </a:xfrm>
          <a:prstGeom prst="line">
            <a:avLst/>
          </a:prstGeom>
          <a:ln w="9525" cap="flat">
            <a:solidFill>
              <a:srgbClr val="000000"/>
            </a:solidFill>
            <a:prstDash val="solid"/>
            <a:headEnd type="none" w="sm" len="sm"/>
            <a:tailEnd type="none" w="sm" len="sm"/>
          </a:ln>
        </p:spPr>
        <p:txBody>
          <a:bodyPr/>
          <a:lstStyle/>
          <a:p>
            <a:endParaRPr lang="en-US"/>
          </a:p>
        </p:txBody>
      </p:sp>
      <p:sp>
        <p:nvSpPr>
          <p:cNvPr id="17" name="TextBox 17"/>
          <p:cNvSpPr txBox="1"/>
          <p:nvPr/>
        </p:nvSpPr>
        <p:spPr>
          <a:xfrm>
            <a:off x="1384300" y="1958023"/>
            <a:ext cx="7532422" cy="2115285"/>
          </a:xfrm>
          <a:prstGeom prst="rect">
            <a:avLst/>
          </a:prstGeom>
        </p:spPr>
        <p:txBody>
          <a:bodyPr lIns="0" tIns="0" rIns="0" bIns="0" rtlCol="0" anchor="t">
            <a:spAutoFit/>
          </a:bodyPr>
          <a:lstStyle/>
          <a:p>
            <a:pPr marL="0" lvl="0" indent="0" algn="l">
              <a:lnSpc>
                <a:spcPts val="7834"/>
              </a:lnSpc>
            </a:pPr>
            <a:r>
              <a:rPr lang="en-US" sz="5596">
                <a:solidFill>
                  <a:srgbClr val="122620"/>
                </a:solidFill>
                <a:latin typeface="Agrandir"/>
                <a:ea typeface="Agrandir"/>
                <a:cs typeface="Agrandir"/>
                <a:sym typeface="Agrandir"/>
              </a:rPr>
              <a:t>Status, Roadmap &amp; Conclusion</a:t>
            </a:r>
          </a:p>
        </p:txBody>
      </p:sp>
      <p:sp>
        <p:nvSpPr>
          <p:cNvPr id="18" name="TextBox 18"/>
          <p:cNvSpPr txBox="1"/>
          <p:nvPr/>
        </p:nvSpPr>
        <p:spPr>
          <a:xfrm>
            <a:off x="3092450" y="6110006"/>
            <a:ext cx="5715403" cy="439460"/>
          </a:xfrm>
          <a:prstGeom prst="rect">
            <a:avLst/>
          </a:prstGeom>
        </p:spPr>
        <p:txBody>
          <a:bodyPr lIns="0" tIns="0" rIns="0" bIns="0" rtlCol="0" anchor="t">
            <a:spAutoFit/>
          </a:bodyPr>
          <a:lstStyle/>
          <a:p>
            <a:pPr marL="0" lvl="0" indent="0" algn="l">
              <a:lnSpc>
                <a:spcPts val="3077"/>
              </a:lnSpc>
            </a:pPr>
            <a:r>
              <a:rPr lang="en-US" sz="2198" b="1">
                <a:solidFill>
                  <a:srgbClr val="122620"/>
                </a:solidFill>
                <a:latin typeface="Agrandir Bold"/>
                <a:ea typeface="Agrandir Bold"/>
                <a:cs typeface="Agrandir Bold"/>
                <a:sym typeface="Agrandir Bold"/>
              </a:rPr>
              <a:t>Completed Modules</a:t>
            </a:r>
          </a:p>
        </p:txBody>
      </p:sp>
      <p:sp>
        <p:nvSpPr>
          <p:cNvPr id="19" name="TextBox 19"/>
          <p:cNvSpPr txBox="1"/>
          <p:nvPr/>
        </p:nvSpPr>
        <p:spPr>
          <a:xfrm>
            <a:off x="3092450" y="6543055"/>
            <a:ext cx="5715403" cy="923330"/>
          </a:xfrm>
          <a:prstGeom prst="rect">
            <a:avLst/>
          </a:prstGeom>
        </p:spPr>
        <p:txBody>
          <a:bodyPr lIns="0" tIns="0" rIns="0" bIns="0" rtlCol="0" anchor="t">
            <a:spAutoFit/>
          </a:bodyPr>
          <a:lstStyle/>
          <a:p>
            <a:pPr lvl="0"/>
            <a:r>
              <a:rPr lang="en-US" sz="2000" dirty="0">
                <a:solidFill>
                  <a:srgbClr val="122620"/>
                </a:solidFill>
                <a:latin typeface="Agrandir"/>
                <a:ea typeface="Agrandir"/>
                <a:cs typeface="Agrandir"/>
                <a:sym typeface="Agrandir"/>
              </a:rPr>
              <a:t>Auth &amp; Users · Companies · Products · Materials · Production Orders · Inventory · Optimization Algorithm - Excel export &amp; Importing</a:t>
            </a:r>
          </a:p>
        </p:txBody>
      </p:sp>
      <p:sp>
        <p:nvSpPr>
          <p:cNvPr id="20" name="TextBox 20"/>
          <p:cNvSpPr txBox="1"/>
          <p:nvPr/>
        </p:nvSpPr>
        <p:spPr>
          <a:xfrm>
            <a:off x="3092450" y="7652864"/>
            <a:ext cx="5715403" cy="439460"/>
          </a:xfrm>
          <a:prstGeom prst="rect">
            <a:avLst/>
          </a:prstGeom>
        </p:spPr>
        <p:txBody>
          <a:bodyPr lIns="0" tIns="0" rIns="0" bIns="0" rtlCol="0" anchor="t">
            <a:spAutoFit/>
          </a:bodyPr>
          <a:lstStyle/>
          <a:p>
            <a:pPr marL="0" lvl="0" indent="0" algn="l">
              <a:lnSpc>
                <a:spcPts val="3077"/>
              </a:lnSpc>
            </a:pPr>
            <a:r>
              <a:rPr lang="en-US" sz="2198" b="1">
                <a:solidFill>
                  <a:srgbClr val="122620"/>
                </a:solidFill>
                <a:latin typeface="Agrandir Bold"/>
                <a:ea typeface="Agrandir Bold"/>
                <a:cs typeface="Agrandir Bold"/>
                <a:sym typeface="Agrandir Bold"/>
              </a:rPr>
              <a:t>Future Roadmap</a:t>
            </a:r>
          </a:p>
        </p:txBody>
      </p:sp>
      <p:sp>
        <p:nvSpPr>
          <p:cNvPr id="21" name="TextBox 21"/>
          <p:cNvSpPr txBox="1"/>
          <p:nvPr/>
        </p:nvSpPr>
        <p:spPr>
          <a:xfrm>
            <a:off x="3092450" y="8107528"/>
            <a:ext cx="5715403" cy="1107996"/>
          </a:xfrm>
          <a:prstGeom prst="rect">
            <a:avLst/>
          </a:prstGeom>
        </p:spPr>
        <p:txBody>
          <a:bodyPr lIns="0" tIns="0" rIns="0" bIns="0" rtlCol="0" anchor="t">
            <a:spAutoFit/>
          </a:bodyPr>
          <a:lstStyle/>
          <a:p>
            <a:pPr marL="0" lvl="0" indent="0" algn="l"/>
            <a:r>
              <a:rPr lang="en-US" sz="2400" dirty="0">
                <a:solidFill>
                  <a:srgbClr val="122620"/>
                </a:solidFill>
                <a:latin typeface="Agrandir"/>
                <a:ea typeface="Agrandir"/>
                <a:cs typeface="Agrandir"/>
                <a:sym typeface="Agrandir"/>
              </a:rPr>
              <a:t>Cost tracking · &amp; reporting · Analytics &amp; notifications · UI polish · Enhanced permissions</a:t>
            </a:r>
          </a:p>
        </p:txBody>
      </p:sp>
      <p:sp>
        <p:nvSpPr>
          <p:cNvPr id="22" name="TextBox 22"/>
          <p:cNvSpPr txBox="1"/>
          <p:nvPr/>
        </p:nvSpPr>
        <p:spPr>
          <a:xfrm>
            <a:off x="1965801" y="6204209"/>
            <a:ext cx="481741" cy="642677"/>
          </a:xfrm>
          <a:prstGeom prst="rect">
            <a:avLst/>
          </a:prstGeom>
        </p:spPr>
        <p:txBody>
          <a:bodyPr lIns="0" tIns="0" rIns="0" bIns="0" rtlCol="0" anchor="t">
            <a:spAutoFit/>
          </a:bodyPr>
          <a:lstStyle/>
          <a:p>
            <a:pPr marL="0" lvl="0" indent="0" algn="ctr">
              <a:lnSpc>
                <a:spcPts val="4476"/>
              </a:lnSpc>
            </a:pPr>
            <a:r>
              <a:rPr lang="en-US" sz="3197">
                <a:solidFill>
                  <a:srgbClr val="122620"/>
                </a:solidFill>
                <a:latin typeface="Agrandir"/>
                <a:ea typeface="Agrandir"/>
                <a:cs typeface="Agrandir"/>
                <a:sym typeface="Agrandir"/>
              </a:rPr>
              <a:t>01</a:t>
            </a:r>
          </a:p>
        </p:txBody>
      </p:sp>
      <p:sp>
        <p:nvSpPr>
          <p:cNvPr id="23" name="TextBox 23"/>
          <p:cNvSpPr txBox="1"/>
          <p:nvPr/>
        </p:nvSpPr>
        <p:spPr>
          <a:xfrm>
            <a:off x="1769652" y="7630326"/>
            <a:ext cx="874039" cy="642677"/>
          </a:xfrm>
          <a:prstGeom prst="rect">
            <a:avLst/>
          </a:prstGeom>
        </p:spPr>
        <p:txBody>
          <a:bodyPr lIns="0" tIns="0" rIns="0" bIns="0" rtlCol="0" anchor="t">
            <a:spAutoFit/>
          </a:bodyPr>
          <a:lstStyle/>
          <a:p>
            <a:pPr marL="0" lvl="0" indent="0" algn="ctr">
              <a:lnSpc>
                <a:spcPts val="4476"/>
              </a:lnSpc>
            </a:pPr>
            <a:r>
              <a:rPr lang="en-US" sz="3197">
                <a:solidFill>
                  <a:srgbClr val="122620"/>
                </a:solidFill>
                <a:latin typeface="Agrandir"/>
                <a:ea typeface="Agrandir"/>
                <a:cs typeface="Agrandir"/>
                <a:sym typeface="Agrandir"/>
              </a:rPr>
              <a:t>02</a:t>
            </a:r>
          </a:p>
        </p:txBody>
      </p:sp>
      <p:sp>
        <p:nvSpPr>
          <p:cNvPr id="24" name="TextBox 24"/>
          <p:cNvSpPr txBox="1"/>
          <p:nvPr/>
        </p:nvSpPr>
        <p:spPr>
          <a:xfrm>
            <a:off x="1384300" y="4570363"/>
            <a:ext cx="7532422" cy="43624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Alamia Print is a comprehensive ERP system integrating production workflow, inventory, optimization, and security — tailored for real printing business needs, not just a generic CRUD app.</a:t>
            </a:r>
          </a:p>
        </p:txBody>
      </p:sp>
      <p:sp>
        <p:nvSpPr>
          <p:cNvPr id="25" name="TextBox 25"/>
          <p:cNvSpPr txBox="1"/>
          <p:nvPr/>
        </p:nvSpPr>
        <p:spPr>
          <a:xfrm>
            <a:off x="90678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Home</a:t>
            </a:r>
          </a:p>
        </p:txBody>
      </p:sp>
      <p:sp>
        <p:nvSpPr>
          <p:cNvPr id="26" name="TextBox 26"/>
          <p:cNvSpPr txBox="1"/>
          <p:nvPr/>
        </p:nvSpPr>
        <p:spPr>
          <a:xfrm>
            <a:off x="121412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About</a:t>
            </a:r>
          </a:p>
        </p:txBody>
      </p:sp>
      <p:sp>
        <p:nvSpPr>
          <p:cNvPr id="27" name="TextBox 27"/>
          <p:cNvSpPr txBox="1"/>
          <p:nvPr/>
        </p:nvSpPr>
        <p:spPr>
          <a:xfrm>
            <a:off x="152146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Product</a:t>
            </a:r>
          </a:p>
        </p:txBody>
      </p:sp>
      <p:sp>
        <p:nvSpPr>
          <p:cNvPr id="28" name="TextBox 28"/>
          <p:cNvSpPr txBox="1"/>
          <p:nvPr/>
        </p:nvSpPr>
        <p:spPr>
          <a:xfrm>
            <a:off x="1536700" y="1194191"/>
            <a:ext cx="1536700" cy="226695"/>
          </a:xfrm>
          <a:prstGeom prst="rect">
            <a:avLst/>
          </a:prstGeom>
        </p:spPr>
        <p:txBody>
          <a:bodyPr lIns="0" tIns="0" rIns="0" bIns="0" rtlCol="0" anchor="t">
            <a:spAutoFit/>
          </a:bodyPr>
          <a:lstStyle/>
          <a:p>
            <a:pPr marL="0" lvl="0" indent="0" algn="l">
              <a:lnSpc>
                <a:spcPts val="1679"/>
              </a:lnSpc>
            </a:pPr>
            <a:r>
              <a:rPr lang="en-US" sz="1200">
                <a:solidFill>
                  <a:srgbClr val="122620"/>
                </a:solidFill>
                <a:latin typeface="Agrandir"/>
                <a:ea typeface="Agrandir"/>
                <a:cs typeface="Agrandir"/>
                <a:sym typeface="Agrandir"/>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529</Words>
  <Application>Microsoft Office PowerPoint</Application>
  <PresentationFormat>Custom</PresentationFormat>
  <Paragraphs>101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Agrandir</vt:lpstr>
      <vt:lpstr>Agrandir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Alamia Print ERP System Overview</dc:title>
  <cp:lastModifiedBy>John Emil</cp:lastModifiedBy>
  <cp:revision>2</cp:revision>
  <dcterms:created xsi:type="dcterms:W3CDTF">2006-08-16T00:00:00Z</dcterms:created>
  <dcterms:modified xsi:type="dcterms:W3CDTF">2026-09-08T16:33:34Z</dcterms:modified>
  <dc:identifier>DAHUiqfSA-s</dc:identifier>
</cp:coreProperties>
</file>